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theme/theme6.xml" ContentType="application/vnd.openxmlformats-officedocument.theme+xml"/>
  <Override PartName="/ppt/slideLayouts/slideLayout7.xml" ContentType="application/vnd.openxmlformats-officedocument.presentationml.slideLayout+xml"/>
  <Override PartName="/ppt/theme/theme7.xml" ContentType="application/vnd.openxmlformats-officedocument.theme+xml"/>
  <Override PartName="/ppt/slideLayouts/slideLayout8.xml" ContentType="application/vnd.openxmlformats-officedocument.presentationml.slideLayout+xml"/>
  <Override PartName="/ppt/theme/theme8.xml" ContentType="application/vnd.openxmlformats-officedocument.theme+xml"/>
  <Override PartName="/ppt/slideLayouts/slideLayout9.xml" ContentType="application/vnd.openxmlformats-officedocument.presentationml.slideLayout+xml"/>
  <Override PartName="/ppt/theme/theme9.xml" ContentType="application/vnd.openxmlformats-officedocument.theme+xml"/>
  <Override PartName="/ppt/slideLayouts/slideLayout10.xml" ContentType="application/vnd.openxmlformats-officedocument.presentationml.slideLayout+xml"/>
  <Override PartName="/ppt/theme/theme10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  <p:sldMasterId id="2147483652" r:id="rId3"/>
    <p:sldMasterId id="2147483654" r:id="rId4"/>
    <p:sldMasterId id="2147483656" r:id="rId5"/>
    <p:sldMasterId id="2147483658" r:id="rId6"/>
    <p:sldMasterId id="2147483660" r:id="rId7"/>
    <p:sldMasterId id="2147483662" r:id="rId8"/>
    <p:sldMasterId id="2147483664" r:id="rId9"/>
    <p:sldMasterId id="2147483666" r:id="rId10"/>
  </p:sldMasterIdLst>
  <p:sldIdLst>
    <p:sldId id="256" r:id="rId11"/>
    <p:sldId id="257" r:id="rId12"/>
  </p:sldIdLst>
  <p:sldSz cx="12801600" cy="9601200" type="A3"/>
  <p:notesSz cx="7772400" cy="100584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821" autoAdjust="0"/>
    <p:restoredTop sz="94658" autoAdjust="0"/>
  </p:normalViewPr>
  <p:slideViewPr>
    <p:cSldViewPr snapToGrid="0">
      <p:cViewPr>
        <p:scale>
          <a:sx n="121" d="100"/>
          <a:sy n="121" d="100"/>
        </p:scale>
        <p:origin x="1032" y="14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2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1.xml"/><Relationship Id="rId5" Type="http://schemas.openxmlformats.org/officeDocument/2006/relationships/slideMaster" Target="slideMasters/slideMaster5.xml"/><Relationship Id="rId15" Type="http://schemas.openxmlformats.org/officeDocument/2006/relationships/theme" Target="theme/theme1.xml"/><Relationship Id="rId10" Type="http://schemas.openxmlformats.org/officeDocument/2006/relationships/slideMaster" Target="slideMasters/slideMaster10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960120" y="1571400"/>
            <a:ext cx="10879920" cy="3341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40080" y="2246400"/>
            <a:ext cx="11521080" cy="5568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4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E973DC01-B8EC-4BB4-AD05-705A2146FA3E}" type="slidenum">
              <a:t>‹Nr.›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93FCA280-599A-4660-BC52-B278CAD93DB1}" type="slidenum">
              <a:t>‹Nr.›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lstStyle/>
          <a:p>
            <a:fld id="{B8B86428-BED4-4324-A962-B6A59FCB3AF2}" type="slidenum">
              <a:t>‹Nr.›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960120" y="1571400"/>
            <a:ext cx="10879920" cy="3341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640080" y="2246400"/>
            <a:ext cx="11521080" cy="5568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93AB6052-BEA6-48C2-B536-CC3041DA2AC1}" type="slidenum">
              <a:t>‹Nr.›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lstStyle/>
          <a:p>
            <a:fld id="{86F6F0C5-EF4C-44D8-B6D3-6F2EEA8B5F38}" type="slidenum">
              <a:t>‹Nr.›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960120" y="1571400"/>
            <a:ext cx="10879920" cy="3341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640080" y="2246400"/>
            <a:ext cx="5622120" cy="5568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/>
          </p:nvPr>
        </p:nvSpPr>
        <p:spPr>
          <a:xfrm>
            <a:off x="6543720" y="2246400"/>
            <a:ext cx="5622120" cy="5568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7"/>
          </p:nvPr>
        </p:nvSpPr>
        <p:spPr/>
        <p:txBody>
          <a:bodyPr/>
          <a:lstStyle/>
          <a:p>
            <a:fld id="{A8BCEE88-ECBB-4B39-9851-912C776C9ADC}" type="slidenum">
              <a:t>‹Nr.›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9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0"/>
          </p:nvPr>
        </p:nvSpPr>
        <p:spPr/>
        <p:txBody>
          <a:bodyPr/>
          <a:lstStyle/>
          <a:p>
            <a:fld id="{6F2A26FF-34AB-4816-AAF8-05ABEB09A387}" type="slidenum">
              <a:t>‹Nr.›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960120" y="1571400"/>
            <a:ext cx="10879920" cy="3341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3"/>
          </p:nvPr>
        </p:nvSpPr>
        <p:spPr/>
        <p:txBody>
          <a:bodyPr/>
          <a:lstStyle/>
          <a:p>
            <a:fld id="{59DC46E2-C2ED-447A-B674-EBCC29939D94}" type="slidenum">
              <a:t>‹Nr.›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2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6"/>
          </p:nvPr>
        </p:nvSpPr>
        <p:spPr/>
        <p:txBody>
          <a:bodyPr/>
          <a:lstStyle/>
          <a:p>
            <a:fld id="{E6EE80AB-F832-4169-9B11-33D32FF14C0B}" type="slidenum">
              <a:t>‹Nr.›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lstStyle/>
          <a:p>
            <a:fld id="{B6CC366F-9CCA-4D54-87F3-63F9AD9D807F}" type="slidenum">
              <a:t>‹Nr.›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6.xml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7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8.xml"/></Relationships>
</file>

<file path=ppt/slideMasters/_rels/slideMaster9.xml.rels><?xml version="1.0" encoding="UTF-8" standalone="yes"?>
<Relationships xmlns="http://schemas.openxmlformats.org/package/2006/relationships"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9.xml"/></Relationships>
</file>

<file path=ppt/slideMasters/_rels/slideMaster10.xml.rels><?xml version="1.0" encoding="UTF-8" standalone="yes"?>
<Relationships xmlns="http://schemas.openxmlformats.org/package/2006/relationships"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960120" y="1571400"/>
            <a:ext cx="10879920" cy="3341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Calibri"/>
              </a:rPr>
              <a:t>Click to edit the title text format</a:t>
            </a:r>
          </a:p>
        </p:txBody>
      </p:sp>
      <p:sp>
        <p:nvSpPr>
          <p:cNvPr id="5" name="PlaceHolder 2"/>
          <p:cNvSpPr>
            <a:spLocks noGrp="1"/>
          </p:cNvSpPr>
          <p:nvPr>
            <p:ph type="ftr" idx="1"/>
          </p:nvPr>
        </p:nvSpPr>
        <p:spPr>
          <a:xfrm>
            <a:off x="4240440" y="8898840"/>
            <a:ext cx="4319280" cy="50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Calibri"/>
              </a:rPr>
              <a:t>&lt;footer&gt;</a:t>
            </a: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9041040" y="8898840"/>
            <a:ext cx="2878920" cy="50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de-DE" sz="1679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2D853D4A-70DC-41D8-94B6-F52982B13055}" type="slidenum">
              <a:rPr lang="de-DE" sz="1679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‹Nr.›</a:t>
            </a:fld>
            <a:endParaRPr lang="en-US" sz="1679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880200" y="8898840"/>
            <a:ext cx="2878920" cy="50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Calibri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Calibri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ftr" idx="4"/>
          </p:nvPr>
        </p:nvSpPr>
        <p:spPr>
          <a:xfrm>
            <a:off x="4240440" y="8898840"/>
            <a:ext cx="4319280" cy="50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Calibri"/>
              </a:rPr>
              <a:t>&lt;footer&gt;</a:t>
            </a:r>
          </a:p>
        </p:txBody>
      </p:sp>
      <p:sp>
        <p:nvSpPr>
          <p:cNvPr id="7" name="PlaceHolder 2"/>
          <p:cNvSpPr>
            <a:spLocks noGrp="1"/>
          </p:cNvSpPr>
          <p:nvPr>
            <p:ph type="sldNum" idx="5"/>
          </p:nvPr>
        </p:nvSpPr>
        <p:spPr>
          <a:xfrm>
            <a:off x="9041040" y="8898840"/>
            <a:ext cx="2878920" cy="50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de-DE" sz="1679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B7118E28-B3FD-48E6-B4B0-D17E5621A1E8}" type="slidenum">
              <a:rPr lang="de-DE" sz="1679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‹Nr.›</a:t>
            </a:fld>
            <a:endParaRPr lang="en-US" sz="1679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6"/>
          </p:nvPr>
        </p:nvSpPr>
        <p:spPr>
          <a:xfrm>
            <a:off x="880200" y="8898840"/>
            <a:ext cx="2878920" cy="50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Calibri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Calibri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ftr" idx="7"/>
          </p:nvPr>
        </p:nvSpPr>
        <p:spPr>
          <a:xfrm>
            <a:off x="4240440" y="8898840"/>
            <a:ext cx="4319280" cy="50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Calibri"/>
              </a:rPr>
              <a:t>&lt;footer&gt;</a:t>
            </a:r>
          </a:p>
        </p:txBody>
      </p:sp>
      <p:sp>
        <p:nvSpPr>
          <p:cNvPr id="10" name="PlaceHolder 2"/>
          <p:cNvSpPr>
            <a:spLocks noGrp="1"/>
          </p:cNvSpPr>
          <p:nvPr>
            <p:ph type="sldNum" idx="8"/>
          </p:nvPr>
        </p:nvSpPr>
        <p:spPr>
          <a:xfrm>
            <a:off x="9041040" y="8898840"/>
            <a:ext cx="2878920" cy="50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de-DE" sz="1679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24F4B2A4-DE19-4A8B-B990-D9D6472334A2}" type="slidenum">
              <a:rPr lang="de-DE" sz="1679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‹Nr.›</a:t>
            </a:fld>
            <a:endParaRPr lang="en-US" sz="1679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dt" idx="9"/>
          </p:nvPr>
        </p:nvSpPr>
        <p:spPr>
          <a:xfrm>
            <a:off x="880200" y="8898840"/>
            <a:ext cx="2878920" cy="50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Calibri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Calibri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960120" y="1571400"/>
            <a:ext cx="10879920" cy="3341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Calibri"/>
              </a:rPr>
              <a:t>Click to edit the title text format</a:t>
            </a: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640080" y="2246400"/>
            <a:ext cx="11520720" cy="556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Seventh Outline Level</a:t>
            </a:r>
          </a:p>
        </p:txBody>
      </p:sp>
      <p:sp>
        <p:nvSpPr>
          <p:cNvPr id="14" name="PlaceHolder 3"/>
          <p:cNvSpPr>
            <a:spLocks noGrp="1"/>
          </p:cNvSpPr>
          <p:nvPr>
            <p:ph type="ftr" idx="10"/>
          </p:nvPr>
        </p:nvSpPr>
        <p:spPr>
          <a:xfrm>
            <a:off x="4240440" y="8898840"/>
            <a:ext cx="4319280" cy="50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Calibri"/>
              </a:rPr>
              <a:t>&lt;footer&gt;</a:t>
            </a:r>
          </a:p>
        </p:txBody>
      </p:sp>
      <p:sp>
        <p:nvSpPr>
          <p:cNvPr id="15" name="PlaceHolder 4"/>
          <p:cNvSpPr>
            <a:spLocks noGrp="1"/>
          </p:cNvSpPr>
          <p:nvPr>
            <p:ph type="sldNum" idx="11"/>
          </p:nvPr>
        </p:nvSpPr>
        <p:spPr>
          <a:xfrm>
            <a:off x="9041040" y="8898840"/>
            <a:ext cx="2878920" cy="50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de-DE" sz="1679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5E2C70AA-4FF1-4EB4-A6F1-AADD26ECC432}" type="slidenum">
              <a:rPr lang="de-DE" sz="1679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‹Nr.›</a:t>
            </a:fld>
            <a:endParaRPr lang="en-US" sz="1679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dt" idx="12"/>
          </p:nvPr>
        </p:nvSpPr>
        <p:spPr>
          <a:xfrm>
            <a:off x="880200" y="8898840"/>
            <a:ext cx="2878920" cy="50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Calibri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Calibri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ftr" idx="13"/>
          </p:nvPr>
        </p:nvSpPr>
        <p:spPr>
          <a:xfrm>
            <a:off x="4240440" y="8898840"/>
            <a:ext cx="4319280" cy="50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Calibri"/>
              </a:rPr>
              <a:t>&lt;footer&gt;</a:t>
            </a:r>
          </a:p>
        </p:txBody>
      </p:sp>
      <p:sp>
        <p:nvSpPr>
          <p:cNvPr id="20" name="PlaceHolder 2"/>
          <p:cNvSpPr>
            <a:spLocks noGrp="1"/>
          </p:cNvSpPr>
          <p:nvPr>
            <p:ph type="sldNum" idx="14"/>
          </p:nvPr>
        </p:nvSpPr>
        <p:spPr>
          <a:xfrm>
            <a:off x="9041040" y="8898840"/>
            <a:ext cx="2878920" cy="50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de-DE" sz="1679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B4E8E908-2B7A-488B-888B-303779C048B7}" type="slidenum">
              <a:rPr lang="de-DE" sz="1679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‹Nr.›</a:t>
            </a:fld>
            <a:endParaRPr lang="en-US" sz="1679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dt" idx="15"/>
          </p:nvPr>
        </p:nvSpPr>
        <p:spPr>
          <a:xfrm>
            <a:off x="880200" y="8898840"/>
            <a:ext cx="2878920" cy="50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Calibri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Calibri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960120" y="1571400"/>
            <a:ext cx="10879920" cy="3341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Calibri"/>
              </a:rPr>
              <a:t>Click to edit the title text format</a:t>
            </a: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640080" y="2246400"/>
            <a:ext cx="5621760" cy="556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Seventh Outline Level</a:t>
            </a: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6543720" y="2246400"/>
            <a:ext cx="5621760" cy="556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Seventh Outline Level</a:t>
            </a:r>
          </a:p>
        </p:txBody>
      </p:sp>
      <p:sp>
        <p:nvSpPr>
          <p:cNvPr id="25" name="PlaceHolder 4"/>
          <p:cNvSpPr>
            <a:spLocks noGrp="1"/>
          </p:cNvSpPr>
          <p:nvPr>
            <p:ph type="ftr" idx="16"/>
          </p:nvPr>
        </p:nvSpPr>
        <p:spPr>
          <a:xfrm>
            <a:off x="4240440" y="8898840"/>
            <a:ext cx="4319280" cy="50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Calibri"/>
              </a:rPr>
              <a:t>&lt;footer&gt;</a:t>
            </a:r>
          </a:p>
        </p:txBody>
      </p:sp>
      <p:sp>
        <p:nvSpPr>
          <p:cNvPr id="26" name="PlaceHolder 5"/>
          <p:cNvSpPr>
            <a:spLocks noGrp="1"/>
          </p:cNvSpPr>
          <p:nvPr>
            <p:ph type="sldNum" idx="17"/>
          </p:nvPr>
        </p:nvSpPr>
        <p:spPr>
          <a:xfrm>
            <a:off x="9041040" y="8898840"/>
            <a:ext cx="2878920" cy="50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de-DE" sz="1679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BE8D29C8-52E0-4B23-8114-C0A50936242C}" type="slidenum">
              <a:rPr lang="de-DE" sz="1679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‹Nr.›</a:t>
            </a:fld>
            <a:endParaRPr lang="en-US" sz="1679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6"/>
          <p:cNvSpPr>
            <a:spLocks noGrp="1"/>
          </p:cNvSpPr>
          <p:nvPr>
            <p:ph type="dt" idx="18"/>
          </p:nvPr>
        </p:nvSpPr>
        <p:spPr>
          <a:xfrm>
            <a:off x="880200" y="8898840"/>
            <a:ext cx="2878920" cy="50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Calibri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Calibri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ftr" idx="19"/>
          </p:nvPr>
        </p:nvSpPr>
        <p:spPr>
          <a:xfrm>
            <a:off x="4240440" y="8898840"/>
            <a:ext cx="4319280" cy="50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Calibri"/>
              </a:rPr>
              <a:t>&lt;footer&gt;</a:t>
            </a:r>
          </a:p>
        </p:txBody>
      </p:sp>
      <p:sp>
        <p:nvSpPr>
          <p:cNvPr id="32" name="PlaceHolder 2"/>
          <p:cNvSpPr>
            <a:spLocks noGrp="1"/>
          </p:cNvSpPr>
          <p:nvPr>
            <p:ph type="sldNum" idx="20"/>
          </p:nvPr>
        </p:nvSpPr>
        <p:spPr>
          <a:xfrm>
            <a:off x="9041040" y="8898840"/>
            <a:ext cx="2878920" cy="50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de-DE" sz="1679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0F16CE24-9771-4F80-A4BD-CB87F9AD398F}" type="slidenum">
              <a:rPr lang="de-DE" sz="1679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‹Nr.›</a:t>
            </a:fld>
            <a:endParaRPr lang="en-US" sz="1679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dt" idx="21"/>
          </p:nvPr>
        </p:nvSpPr>
        <p:spPr>
          <a:xfrm>
            <a:off x="880200" y="8898840"/>
            <a:ext cx="2878920" cy="50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Calibri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Calibri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960120" y="1571400"/>
            <a:ext cx="10879920" cy="3341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Calibri"/>
              </a:rPr>
              <a:t>Click to edit the title text format</a:t>
            </a:r>
          </a:p>
        </p:txBody>
      </p:sp>
      <p:sp>
        <p:nvSpPr>
          <p:cNvPr id="35" name="PlaceHolder 2"/>
          <p:cNvSpPr>
            <a:spLocks noGrp="1"/>
          </p:cNvSpPr>
          <p:nvPr>
            <p:ph type="ftr" idx="22"/>
          </p:nvPr>
        </p:nvSpPr>
        <p:spPr>
          <a:xfrm>
            <a:off x="4240440" y="8898840"/>
            <a:ext cx="4319280" cy="50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Calibri"/>
              </a:rPr>
              <a:t>&lt;footer&gt;</a:t>
            </a:r>
          </a:p>
        </p:txBody>
      </p:sp>
      <p:sp>
        <p:nvSpPr>
          <p:cNvPr id="36" name="PlaceHolder 3"/>
          <p:cNvSpPr>
            <a:spLocks noGrp="1"/>
          </p:cNvSpPr>
          <p:nvPr>
            <p:ph type="sldNum" idx="23"/>
          </p:nvPr>
        </p:nvSpPr>
        <p:spPr>
          <a:xfrm>
            <a:off x="9041040" y="8898840"/>
            <a:ext cx="2878920" cy="50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de-DE" sz="1679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0498B8A8-A74E-4763-80DA-CA283359160F}" type="slidenum">
              <a:rPr lang="de-DE" sz="1679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‹Nr.›</a:t>
            </a:fld>
            <a:endParaRPr lang="en-US" sz="1679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dt" idx="24"/>
          </p:nvPr>
        </p:nvSpPr>
        <p:spPr>
          <a:xfrm>
            <a:off x="880200" y="8898840"/>
            <a:ext cx="2878920" cy="50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Calibri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Calibri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ftr" idx="25"/>
          </p:nvPr>
        </p:nvSpPr>
        <p:spPr>
          <a:xfrm>
            <a:off x="4240440" y="8898840"/>
            <a:ext cx="4319280" cy="50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Calibri"/>
              </a:rPr>
              <a:t>&lt;footer&gt;</a:t>
            </a:r>
          </a:p>
        </p:txBody>
      </p:sp>
      <p:sp>
        <p:nvSpPr>
          <p:cNvPr id="40" name="PlaceHolder 2"/>
          <p:cNvSpPr>
            <a:spLocks noGrp="1"/>
          </p:cNvSpPr>
          <p:nvPr>
            <p:ph type="sldNum" idx="26"/>
          </p:nvPr>
        </p:nvSpPr>
        <p:spPr>
          <a:xfrm>
            <a:off x="9041040" y="8898840"/>
            <a:ext cx="2878920" cy="50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de-DE" sz="1679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6B14C1CD-C1E4-4BC9-8BE4-5E574A3E7216}" type="slidenum">
              <a:rPr lang="de-DE" sz="1679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‹Nr.›</a:t>
            </a:fld>
            <a:endParaRPr lang="en-US" sz="1679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dt" idx="27"/>
          </p:nvPr>
        </p:nvSpPr>
        <p:spPr>
          <a:xfrm>
            <a:off x="880200" y="8898840"/>
            <a:ext cx="2878920" cy="50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Calibri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Calibri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ftr" idx="28"/>
          </p:nvPr>
        </p:nvSpPr>
        <p:spPr>
          <a:xfrm>
            <a:off x="4240440" y="8898840"/>
            <a:ext cx="4319280" cy="50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Calibri"/>
              </a:rPr>
              <a:t>&lt;footer&gt;</a:t>
            </a:r>
          </a:p>
        </p:txBody>
      </p:sp>
      <p:sp>
        <p:nvSpPr>
          <p:cNvPr id="43" name="PlaceHolder 2"/>
          <p:cNvSpPr>
            <a:spLocks noGrp="1"/>
          </p:cNvSpPr>
          <p:nvPr>
            <p:ph type="sldNum" idx="29"/>
          </p:nvPr>
        </p:nvSpPr>
        <p:spPr>
          <a:xfrm>
            <a:off x="9041040" y="8898840"/>
            <a:ext cx="2878920" cy="50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de-DE" sz="1679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AF3041DB-7BF3-44BB-8B8F-9BD476890B32}" type="slidenum">
              <a:rPr lang="de-DE" sz="1679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‹Nr.›</a:t>
            </a:fld>
            <a:endParaRPr lang="en-US" sz="1679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dt" idx="30"/>
          </p:nvPr>
        </p:nvSpPr>
        <p:spPr>
          <a:xfrm>
            <a:off x="880200" y="8898840"/>
            <a:ext cx="2878920" cy="50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Calibri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Calibri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hteck: abgerundete Ecken 3"/>
          <p:cNvSpPr/>
          <p:nvPr/>
        </p:nvSpPr>
        <p:spPr>
          <a:xfrm>
            <a:off x="243000" y="361800"/>
            <a:ext cx="2305440" cy="1729440"/>
          </a:xfrm>
          <a:prstGeom prst="roundRect">
            <a:avLst>
              <a:gd name="adj" fmla="val 16667"/>
            </a:avLst>
          </a:prstGeom>
          <a:solidFill>
            <a:srgbClr val="ED7D31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/>
        </p:style>
        <p:txBody>
          <a:bodyPr horzOverflow="overflow" lIns="90000" tIns="45000" rIns="90000" bIns="45000" numCol="1" spcCol="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de-DE" sz="1800" b="0" strike="noStrike" spc="-1" dirty="0" err="1">
                <a:solidFill>
                  <a:schemeClr val="lt1"/>
                </a:solidFill>
                <a:latin typeface="Calibri"/>
              </a:rPr>
              <a:t>SerialPortData</a:t>
            </a:r>
            <a:br>
              <a:rPr sz="1800" dirty="0"/>
            </a:br>
            <a:r>
              <a:rPr lang="de-DE" sz="1800" b="0" strike="noStrike" spc="-1" dirty="0" err="1">
                <a:solidFill>
                  <a:schemeClr val="lt1"/>
                </a:solidFill>
                <a:latin typeface="Calibri"/>
              </a:rPr>
              <a:t>Streamer.m</a:t>
            </a:r>
            <a:endParaRPr lang="en-US" sz="1800" b="0" strike="noStrike" spc="-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6" name="Rechteck: abgerundete Ecken 4"/>
          <p:cNvSpPr/>
          <p:nvPr/>
        </p:nvSpPr>
        <p:spPr>
          <a:xfrm>
            <a:off x="4763160" y="5335920"/>
            <a:ext cx="4008600" cy="395280"/>
          </a:xfrm>
          <a:prstGeom prst="roundRect">
            <a:avLst>
              <a:gd name="adj" fmla="val 17334"/>
            </a:avLst>
          </a:prstGeom>
          <a:solidFill>
            <a:srgbClr val="4472C4"/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horzOverflow="overflow" lIns="90000" tIns="45000" rIns="90000" bIns="45000" numCol="1" spcCol="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de-DE" sz="1800" b="0" strike="noStrike" spc="-1">
                <a:solidFill>
                  <a:schemeClr val="lt1"/>
                </a:solidFill>
                <a:latin typeface="Calibri"/>
              </a:rPr>
              <a:t>serialPortClass.m</a:t>
            </a:r>
            <a:endParaRPr lang="en-US" sz="18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8" name="Rechteck: abgerundete Ecken 7"/>
          <p:cNvSpPr/>
          <p:nvPr/>
        </p:nvSpPr>
        <p:spPr>
          <a:xfrm>
            <a:off x="1520460" y="8436634"/>
            <a:ext cx="1682640" cy="376526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95ACEA"/>
              </a:gs>
              <a:gs pos="50000">
                <a:srgbClr val="BFCAF0"/>
              </a:gs>
              <a:gs pos="100000">
                <a:srgbClr val="E0E5F6"/>
              </a:gs>
            </a:gsLst>
            <a:path path="circle">
              <a:fillToRect l="50000" t="50000" r="50000" b="50000"/>
            </a:path>
          </a:gra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horzOverflow="overflow" lIns="90000" tIns="45000" rIns="90000" bIns="45000" numCol="1" spcCol="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de-DE" sz="1800" b="0" strike="noStrike" spc="-1">
                <a:solidFill>
                  <a:schemeClr val="lt1"/>
                </a:solidFill>
                <a:latin typeface="Calibri"/>
              </a:rPr>
              <a:t>displayInfo.m</a:t>
            </a: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9" name="Rechteck: abgerundete Ecken 9"/>
          <p:cNvSpPr/>
          <p:nvPr/>
        </p:nvSpPr>
        <p:spPr>
          <a:xfrm>
            <a:off x="10136520" y="3571336"/>
            <a:ext cx="1916280" cy="281744"/>
          </a:xfrm>
          <a:prstGeom prst="roundRect">
            <a:avLst>
              <a:gd name="adj" fmla="val 16667"/>
            </a:avLst>
          </a:prstGeom>
          <a:solidFill>
            <a:schemeClr val="accent6">
              <a:lumMod val="40000"/>
              <a:lumOff val="60000"/>
            </a:schemeClr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horzOverflow="overflow" lIns="90000" tIns="45000" rIns="90000" bIns="45000" numCol="1" spcCol="0" anchor="ctr">
            <a:noAutofit/>
          </a:bodyPr>
          <a:lstStyle/>
          <a:p>
            <a:pPr defTabSz="457200">
              <a:lnSpc>
                <a:spcPct val="100000"/>
              </a:lnSpc>
            </a:pPr>
            <a:r>
              <a:rPr lang="de-DE" sz="1800" b="0" strike="noStrike" spc="-1">
                <a:solidFill>
                  <a:schemeClr val="lt1"/>
                </a:solidFill>
                <a:latin typeface="Calibri"/>
              </a:rPr>
              <a:t>calcTPCoeff.m</a:t>
            </a: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0" name="Rechteck: abgerundete Ecken 10"/>
          <p:cNvSpPr/>
          <p:nvPr/>
        </p:nvSpPr>
        <p:spPr>
          <a:xfrm>
            <a:off x="10136520" y="1508760"/>
            <a:ext cx="1916280" cy="357840"/>
          </a:xfrm>
          <a:prstGeom prst="roundRect">
            <a:avLst>
              <a:gd name="adj" fmla="val 16667"/>
            </a:avLst>
          </a:prstGeom>
          <a:solidFill>
            <a:schemeClr val="accent6">
              <a:lumMod val="40000"/>
              <a:lumOff val="60000"/>
            </a:schemeClr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horzOverflow="overflow" lIns="90000" tIns="45000" rIns="90000" bIns="45000" numCol="1" spcCol="0" anchor="ctr">
            <a:noAutofit/>
          </a:bodyPr>
          <a:lstStyle/>
          <a:p>
            <a:pPr defTabSz="457200">
              <a:lnSpc>
                <a:spcPct val="100000"/>
              </a:lnSpc>
            </a:pPr>
            <a:r>
              <a:rPr lang="de-DE" sz="1800" b="0" strike="noStrike" spc="-1">
                <a:solidFill>
                  <a:schemeClr val="lt1"/>
                </a:solidFill>
                <a:latin typeface="Calibri"/>
              </a:rPr>
              <a:t>calcNotchCoeff.m</a:t>
            </a: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Rechteck: abgerundete Ecken 11"/>
          <p:cNvSpPr/>
          <p:nvPr/>
        </p:nvSpPr>
        <p:spPr>
          <a:xfrm>
            <a:off x="10186560" y="2555640"/>
            <a:ext cx="1916280" cy="303840"/>
          </a:xfrm>
          <a:prstGeom prst="roundRect">
            <a:avLst>
              <a:gd name="adj" fmla="val 16667"/>
            </a:avLst>
          </a:prstGeom>
          <a:solidFill>
            <a:schemeClr val="accent6">
              <a:lumMod val="40000"/>
              <a:lumOff val="60000"/>
            </a:schemeClr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horzOverflow="overflow" lIns="90000" tIns="45000" rIns="90000" bIns="45000" numCol="1" spcCol="0" anchor="ctr">
            <a:noAutofit/>
          </a:bodyPr>
          <a:lstStyle/>
          <a:p>
            <a:pPr defTabSz="457200">
              <a:lnSpc>
                <a:spcPct val="100000"/>
              </a:lnSpc>
            </a:pPr>
            <a:r>
              <a:rPr lang="de-DE" sz="1800" b="0" strike="noStrike" spc="-1">
                <a:solidFill>
                  <a:schemeClr val="lt1"/>
                </a:solidFill>
                <a:latin typeface="Calibri"/>
              </a:rPr>
              <a:t>calcHPCoeff.m</a:t>
            </a: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Rechteck: abgerundete Ecken 12"/>
          <p:cNvSpPr/>
          <p:nvPr/>
        </p:nvSpPr>
        <p:spPr>
          <a:xfrm>
            <a:off x="10136520" y="441000"/>
            <a:ext cx="1916280" cy="356040"/>
          </a:xfrm>
          <a:prstGeom prst="roundRect">
            <a:avLst>
              <a:gd name="adj" fmla="val 16667"/>
            </a:avLst>
          </a:prstGeom>
          <a:solidFill>
            <a:schemeClr val="accent6">
              <a:lumMod val="40000"/>
              <a:lumOff val="60000"/>
            </a:schemeClr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horzOverflow="overflow" lIns="90000" tIns="45000" rIns="90000" bIns="45000" numCol="1" spcCol="0" anchor="ctr">
            <a:noAutofit/>
          </a:bodyPr>
          <a:lstStyle/>
          <a:p>
            <a:pPr defTabSz="457200">
              <a:lnSpc>
                <a:spcPct val="100000"/>
              </a:lnSpc>
            </a:pPr>
            <a:r>
              <a:rPr lang="de-DE" sz="1800" b="0" strike="noStrike" spc="-1">
                <a:solidFill>
                  <a:schemeClr val="lt1"/>
                </a:solidFill>
                <a:latin typeface="Calibri"/>
              </a:rPr>
              <a:t>biquadFilter.m</a:t>
            </a: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" name="Rechteck: abgerundete Ecken 13"/>
          <p:cNvSpPr/>
          <p:nvPr/>
        </p:nvSpPr>
        <p:spPr>
          <a:xfrm>
            <a:off x="4802400" y="7921080"/>
            <a:ext cx="4008600" cy="395280"/>
          </a:xfrm>
          <a:prstGeom prst="roundRect">
            <a:avLst>
              <a:gd name="adj" fmla="val 16667"/>
            </a:avLst>
          </a:prstGeom>
          <a:solidFill>
            <a:srgbClr val="4472C4"/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horzOverflow="overflow" lIns="90000" tIns="45000" rIns="90000" bIns="45000" numCol="1" spcCol="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de-DE" sz="1800" b="0" strike="noStrike" spc="-1">
                <a:solidFill>
                  <a:schemeClr val="lt1"/>
                </a:solidFill>
                <a:latin typeface="Calibri"/>
              </a:rPr>
              <a:t>plotGraphClass.m</a:t>
            </a:r>
            <a:endParaRPr lang="en-US" sz="1800" b="0" strike="noStrike" spc="-1">
              <a:solidFill>
                <a:srgbClr val="FFFFFF"/>
              </a:solidFill>
              <a:latin typeface="Calibri"/>
            </a:endParaRPr>
          </a:p>
        </p:txBody>
      </p:sp>
      <p:cxnSp>
        <p:nvCxnSpPr>
          <p:cNvPr id="54" name="Gerade Verbindung mit Pfeil 15"/>
          <p:cNvCxnSpPr>
            <a:cxnSpLocks/>
            <a:stCxn id="55" idx="3"/>
            <a:endCxn id="52" idx="1"/>
          </p:cNvCxnSpPr>
          <p:nvPr/>
        </p:nvCxnSpPr>
        <p:spPr>
          <a:xfrm>
            <a:off x="8750880" y="551340"/>
            <a:ext cx="1385640" cy="67680"/>
          </a:xfrm>
          <a:prstGeom prst="straightConnector1">
            <a:avLst/>
          </a:prstGeom>
          <a:ln w="28575">
            <a:solidFill>
              <a:srgbClr val="70AD47">
                <a:lumMod val="40000"/>
                <a:lumOff val="60000"/>
              </a:srgbClr>
            </a:solidFill>
            <a:round/>
            <a:tailEnd type="arrow" w="med" len="med"/>
          </a:ln>
        </p:spPr>
      </p:cxnSp>
      <p:cxnSp>
        <p:nvCxnSpPr>
          <p:cNvPr id="56" name="Gerade Verbindung mit Pfeil 16"/>
          <p:cNvCxnSpPr>
            <a:cxnSpLocks/>
            <a:stCxn id="55" idx="3"/>
            <a:endCxn id="50" idx="1"/>
          </p:cNvCxnSpPr>
          <p:nvPr/>
        </p:nvCxnSpPr>
        <p:spPr>
          <a:xfrm>
            <a:off x="8750880" y="551340"/>
            <a:ext cx="1385640" cy="1136340"/>
          </a:xfrm>
          <a:prstGeom prst="straightConnector1">
            <a:avLst/>
          </a:prstGeom>
          <a:ln w="28575">
            <a:solidFill>
              <a:srgbClr val="70AD47">
                <a:lumMod val="40000"/>
                <a:lumOff val="60000"/>
              </a:srgbClr>
            </a:solidFill>
            <a:round/>
            <a:tailEnd type="arrow" w="med" len="med"/>
          </a:ln>
        </p:spPr>
      </p:cxnSp>
      <p:cxnSp>
        <p:nvCxnSpPr>
          <p:cNvPr id="57" name="Gerade Verbindung mit Pfeil 19"/>
          <p:cNvCxnSpPr>
            <a:cxnSpLocks/>
            <a:stCxn id="55" idx="3"/>
            <a:endCxn id="51" idx="1"/>
          </p:cNvCxnSpPr>
          <p:nvPr/>
        </p:nvCxnSpPr>
        <p:spPr>
          <a:xfrm>
            <a:off x="8750880" y="551340"/>
            <a:ext cx="1435680" cy="2156220"/>
          </a:xfrm>
          <a:prstGeom prst="straightConnector1">
            <a:avLst/>
          </a:prstGeom>
          <a:ln w="28575">
            <a:solidFill>
              <a:srgbClr val="70AD47">
                <a:lumMod val="40000"/>
                <a:lumOff val="60000"/>
              </a:srgbClr>
            </a:solidFill>
            <a:round/>
            <a:tailEnd type="arrow" w="med" len="med"/>
          </a:ln>
        </p:spPr>
      </p:cxnSp>
      <p:cxnSp>
        <p:nvCxnSpPr>
          <p:cNvPr id="58" name="Gerade Verbindung mit Pfeil 22"/>
          <p:cNvCxnSpPr>
            <a:cxnSpLocks/>
            <a:stCxn id="55" idx="3"/>
            <a:endCxn id="49" idx="1"/>
          </p:cNvCxnSpPr>
          <p:nvPr/>
        </p:nvCxnSpPr>
        <p:spPr>
          <a:xfrm>
            <a:off x="8750880" y="551340"/>
            <a:ext cx="1385640" cy="3160868"/>
          </a:xfrm>
          <a:prstGeom prst="straightConnector1">
            <a:avLst/>
          </a:prstGeom>
          <a:ln w="28575">
            <a:solidFill>
              <a:srgbClr val="70AD47">
                <a:lumMod val="40000"/>
                <a:lumOff val="60000"/>
              </a:srgbClr>
            </a:solidFill>
            <a:round/>
            <a:tailEnd type="arrow" w="med" len="med"/>
          </a:ln>
        </p:spPr>
      </p:cxnSp>
      <p:sp>
        <p:nvSpPr>
          <p:cNvPr id="60" name="Rechteck: abgerundete Ecken 65"/>
          <p:cNvSpPr/>
          <p:nvPr/>
        </p:nvSpPr>
        <p:spPr>
          <a:xfrm>
            <a:off x="4786920" y="5761440"/>
            <a:ext cx="4008600" cy="2129400"/>
          </a:xfrm>
          <a:prstGeom prst="roundRect">
            <a:avLst>
              <a:gd name="adj" fmla="val 16667"/>
            </a:avLst>
          </a:prstGeom>
          <a:solidFill>
            <a:srgbClr val="A5A5A5"/>
          </a:solidFill>
          <a:ln>
            <a:solidFill>
              <a:srgbClr val="FFFFFF"/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/>
        </p:style>
        <p:txBody>
          <a:bodyPr horzOverflow="overflow" lIns="90000" tIns="45000" rIns="90000" bIns="45000" numCol="1" spcCol="0" anchor="ctr">
            <a:noAutofit/>
          </a:bodyPr>
          <a:lstStyle/>
          <a:p>
            <a:pPr defTabSz="457200">
              <a:lnSpc>
                <a:spcPct val="100000"/>
              </a:lnSpc>
            </a:pPr>
            <a:r>
              <a:rPr lang="de-DE" sz="1000" b="1" i="1" u="sng" strike="noStrike" spc="-1">
                <a:solidFill>
                  <a:schemeClr val="lt1"/>
                </a:solidFill>
                <a:uFillTx/>
                <a:latin typeface="Calibri"/>
              </a:rPr>
              <a:t>Properties</a:t>
            </a:r>
            <a:endParaRPr lang="en-US" sz="1000" b="0" strike="noStrike" spc="-1">
              <a:solidFill>
                <a:srgbClr val="000000"/>
              </a:solidFill>
              <a:latin typeface="Calibri"/>
            </a:endParaRPr>
          </a:p>
          <a:p>
            <a:pPr defTabSz="457200">
              <a:lnSpc>
                <a:spcPct val="100000"/>
              </a:lnSpc>
            </a:pPr>
            <a:r>
              <a:rPr lang="en-US" sz="900" b="0" strike="noStrike" spc="-1">
                <a:solidFill>
                  <a:schemeClr val="lt1"/>
                </a:solidFill>
                <a:latin typeface="Calibri"/>
              </a:rPr>
              <a:t>    streamSelector = [];</a:t>
            </a:r>
            <a:endParaRPr lang="en-US" sz="900" b="0" strike="noStrike" spc="-1">
              <a:solidFill>
                <a:srgbClr val="000000"/>
              </a:solidFill>
              <a:latin typeface="Calibri"/>
            </a:endParaRPr>
          </a:p>
          <a:p>
            <a:pPr defTabSz="457200">
              <a:lnSpc>
                <a:spcPct val="100000"/>
              </a:lnSpc>
            </a:pPr>
            <a:r>
              <a:rPr lang="en-US" sz="900" b="0" strike="noStrike" spc="-1">
                <a:solidFill>
                  <a:schemeClr val="lt1"/>
                </a:solidFill>
                <a:latin typeface="Calibri"/>
              </a:rPr>
              <a:t>    regex_pattern = '';</a:t>
            </a:r>
            <a:endParaRPr lang="en-US" sz="900" b="0" strike="noStrike" spc="-1">
              <a:solidFill>
                <a:srgbClr val="000000"/>
              </a:solidFill>
              <a:latin typeface="Calibri"/>
            </a:endParaRPr>
          </a:p>
          <a:p>
            <a:pPr defTabSz="457200">
              <a:lnSpc>
                <a:spcPct val="100000"/>
              </a:lnSpc>
            </a:pPr>
            <a:r>
              <a:rPr lang="en-US" sz="900" b="0" strike="noStrike" spc="-1">
                <a:solidFill>
                  <a:schemeClr val="lt1"/>
                </a:solidFill>
                <a:latin typeface="Calibri"/>
              </a:rPr>
              <a:t>    serialPortPath = '';</a:t>
            </a:r>
            <a:endParaRPr lang="en-US" sz="900" b="0" strike="noStrike" spc="-1">
              <a:solidFill>
                <a:srgbClr val="000000"/>
              </a:solidFill>
              <a:latin typeface="Calibri"/>
            </a:endParaRPr>
          </a:p>
          <a:p>
            <a:pPr defTabSz="457200">
              <a:lnSpc>
                <a:spcPct val="100000"/>
              </a:lnSpc>
            </a:pPr>
            <a:r>
              <a:rPr lang="en-US" sz="900" b="0" strike="noStrike" spc="-1">
                <a:solidFill>
                  <a:schemeClr val="lt1"/>
                </a:solidFill>
                <a:latin typeface="Calibri"/>
              </a:rPr>
              <a:t>    inBuffer = '';</a:t>
            </a:r>
            <a:endParaRPr lang="en-US" sz="900" b="0" strike="noStrike" spc="-1">
              <a:solidFill>
                <a:srgbClr val="000000"/>
              </a:solidFill>
              <a:latin typeface="Calibri"/>
            </a:endParaRPr>
          </a:p>
          <a:p>
            <a:pPr defTabSz="457200"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Calibri"/>
              </a:rPr>
              <a:t>    </a:t>
            </a:r>
            <a:r>
              <a:rPr lang="en-US" sz="900" b="0" strike="noStrike" spc="-1">
                <a:solidFill>
                  <a:schemeClr val="lt1"/>
                </a:solidFill>
                <a:latin typeface="Calibri"/>
              </a:rPr>
              <a:t>serial_01 = '';</a:t>
            </a:r>
            <a:r>
              <a:rPr lang="de-DE" sz="900" b="0" strike="noStrike" spc="-1">
                <a:solidFill>
                  <a:schemeClr val="lt1"/>
                </a:solidFill>
                <a:latin typeface="Calibri"/>
              </a:rPr>
              <a:t>function self = serialPortClass (baudrate)</a:t>
            </a:r>
            <a:endParaRPr lang="en-US" sz="900" b="0" strike="noStrike" spc="-1">
              <a:solidFill>
                <a:srgbClr val="000000"/>
              </a:solidFill>
              <a:latin typeface="Calibri"/>
            </a:endParaRPr>
          </a:p>
          <a:p>
            <a:pPr defTabSz="457200">
              <a:lnSpc>
                <a:spcPct val="100000"/>
              </a:lnSpc>
            </a:pPr>
            <a:r>
              <a:rPr lang="de-DE" sz="1000" b="1" i="1" u="sng" strike="noStrike" spc="-1">
                <a:solidFill>
                  <a:schemeClr val="lt1"/>
                </a:solidFill>
                <a:uFillTx/>
                <a:latin typeface="Calibri"/>
              </a:rPr>
              <a:t>Methods</a:t>
            </a:r>
            <a:endParaRPr lang="en-US" sz="1000" b="0" strike="noStrike" spc="-1">
              <a:solidFill>
                <a:srgbClr val="000000"/>
              </a:solidFill>
              <a:latin typeface="Calibri"/>
            </a:endParaRPr>
          </a:p>
          <a:p>
            <a:pPr defTabSz="457200">
              <a:lnSpc>
                <a:spcPct val="100000"/>
              </a:lnSpc>
            </a:pPr>
            <a:r>
              <a:rPr lang="de-DE" sz="1000" b="0" strike="noStrike" spc="-1">
                <a:solidFill>
                  <a:srgbClr val="000000"/>
                </a:solidFill>
                <a:latin typeface="Calibri"/>
              </a:rPr>
              <a:t>function self = serialPortClass(baudrate) </a:t>
            </a:r>
            <a:endParaRPr lang="en-US" sz="1000" b="0" strike="noStrike" spc="-1">
              <a:solidFill>
                <a:srgbClr val="000000"/>
              </a:solidFill>
              <a:latin typeface="Calibri"/>
            </a:endParaRPr>
          </a:p>
          <a:p>
            <a:pPr defTabSz="457200">
              <a:lnSpc>
                <a:spcPct val="100000"/>
              </a:lnSpc>
            </a:pPr>
            <a:r>
              <a:rPr lang="de-DE" sz="1000" b="0" strike="noStrike" spc="-1">
                <a:solidFill>
                  <a:srgbClr val="000000"/>
                </a:solidFill>
                <a:latin typeface="Calibri"/>
              </a:rPr>
              <a:t>function createSelector (self,dataStream)</a:t>
            </a:r>
            <a:endParaRPr lang="en-US" sz="1000" b="0" strike="noStrike" spc="-1">
              <a:solidFill>
                <a:srgbClr val="000000"/>
              </a:solidFill>
              <a:latin typeface="Calibri"/>
            </a:endParaRPr>
          </a:p>
          <a:p>
            <a:pPr defTabSz="457200">
              <a:lnSpc>
                <a:spcPct val="100000"/>
              </a:lnSpc>
            </a:pPr>
            <a:r>
              <a:rPr lang="de-DE" sz="1000" b="0" strike="noStrike" spc="-1">
                <a:solidFill>
                  <a:srgbClr val="000000"/>
                </a:solidFill>
                <a:latin typeface="Calibri"/>
              </a:rPr>
              <a:t>function createRegEx (self,dataStream)</a:t>
            </a:r>
            <a:endParaRPr lang="en-US" sz="1000" b="0" strike="noStrike" spc="-1">
              <a:solidFill>
                <a:srgbClr val="000000"/>
              </a:solidFill>
              <a:latin typeface="Calibri"/>
            </a:endParaRPr>
          </a:p>
          <a:p>
            <a:pPr defTabSz="457200">
              <a:lnSpc>
                <a:spcPct val="100000"/>
              </a:lnSpc>
            </a:pPr>
            <a:r>
              <a:rPr lang="de-DE" sz="1000" b="0" strike="noStrike" spc="-1">
                <a:solidFill>
                  <a:srgbClr val="000000"/>
                </a:solidFill>
                <a:latin typeface="Calibri"/>
              </a:rPr>
              <a:t>function clearPort (self)</a:t>
            </a:r>
            <a:r>
              <a:rPr lang="de-DE" sz="1000" b="0" strike="noStrike" spc="-1">
                <a:solidFill>
                  <a:schemeClr val="lt1"/>
                </a:solidFill>
                <a:latin typeface="Calibri"/>
              </a:rPr>
              <a:t> </a:t>
            </a:r>
            <a:endParaRPr lang="en-US" sz="1000" b="0" strike="noStrike" spc="-1">
              <a:solidFill>
                <a:srgbClr val="000000"/>
              </a:solidFill>
              <a:latin typeface="Calibri"/>
            </a:endParaRPr>
          </a:p>
          <a:p>
            <a:pPr defTabSz="457200">
              <a:lnSpc>
                <a:spcPct val="100000"/>
              </a:lnSpc>
            </a:pPr>
            <a:r>
              <a:rPr lang="de-DE" sz="1000" b="0" strike="noStrike" spc="-1">
                <a:solidFill>
                  <a:srgbClr val="000000"/>
                </a:solidFill>
                <a:latin typeface="Calibri"/>
              </a:rPr>
              <a:t>function [bytesAvailable,inChar] = readPort (self)</a:t>
            </a:r>
            <a:endParaRPr lang="en-US" sz="1000" b="0" strike="noStrike" spc="-1">
              <a:solidFill>
                <a:srgbClr val="000000"/>
              </a:solidFill>
              <a:latin typeface="Calibri"/>
            </a:endParaRPr>
          </a:p>
          <a:p>
            <a:pPr defTabSz="457200"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Calibri"/>
              </a:rPr>
              <a:t>function countMatches = parseInput(self,inChar,dataStream)</a:t>
            </a:r>
          </a:p>
          <a:p>
            <a:pPr defTabSz="457200">
              <a:lnSpc>
                <a:spcPct val="100000"/>
              </a:lnSpc>
            </a:pPr>
            <a:r>
              <a:rPr lang="de-DE" sz="1000" b="0" strike="noStrike" spc="-1">
                <a:solidFill>
                  <a:schemeClr val="lt1"/>
                </a:solidFill>
                <a:latin typeface="Calibri"/>
              </a:rPr>
              <a:t>function portReturn = checkSerialPort (self,baudrate)</a:t>
            </a:r>
            <a:endParaRPr lang="en-US" sz="1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1" name="Rechteck: abgerundete Ecken 65"/>
          <p:cNvSpPr/>
          <p:nvPr/>
        </p:nvSpPr>
        <p:spPr>
          <a:xfrm>
            <a:off x="4802400" y="8346960"/>
            <a:ext cx="4008600" cy="1122120"/>
          </a:xfrm>
          <a:prstGeom prst="roundRect">
            <a:avLst>
              <a:gd name="adj" fmla="val 16667"/>
            </a:avLst>
          </a:prstGeom>
          <a:solidFill>
            <a:srgbClr val="A5A5A5"/>
          </a:solidFill>
          <a:ln>
            <a:solidFill>
              <a:srgbClr val="FFFFFF"/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/>
        </p:style>
        <p:txBody>
          <a:bodyPr horzOverflow="overflow" lIns="90000" tIns="45000" rIns="90000" bIns="45000" numCol="1" spcCol="0" anchor="ctr">
            <a:noAutofit/>
          </a:bodyPr>
          <a:lstStyle/>
          <a:p>
            <a:pPr defTabSz="457200">
              <a:lnSpc>
                <a:spcPct val="100000"/>
              </a:lnSpc>
            </a:pPr>
            <a:r>
              <a:rPr lang="de-DE" sz="1000" b="1" i="1" u="sng" strike="noStrike" spc="-1">
                <a:solidFill>
                  <a:schemeClr val="lt1"/>
                </a:solidFill>
                <a:uFillTx/>
                <a:latin typeface="Calibri"/>
              </a:rPr>
              <a:t>Properties</a:t>
            </a:r>
            <a:endParaRPr lang="en-US" sz="1000" b="0" strike="noStrike" spc="-1">
              <a:solidFill>
                <a:srgbClr val="000000"/>
              </a:solidFill>
              <a:latin typeface="Calibri"/>
            </a:endParaRPr>
          </a:p>
          <a:p>
            <a:pPr defTabSz="457200">
              <a:lnSpc>
                <a:spcPct val="100000"/>
              </a:lnSpc>
            </a:pPr>
            <a:r>
              <a:rPr lang="de-DE" sz="900" b="0" strike="noStrike" spc="-1">
                <a:solidFill>
                  <a:schemeClr val="lt1"/>
                </a:solidFill>
                <a:latin typeface="Calibri"/>
              </a:rPr>
              <a:t>    fi_1 = 0;</a:t>
            </a:r>
            <a:endParaRPr lang="en-US" sz="900" b="0" strike="noStrike" spc="-1">
              <a:solidFill>
                <a:srgbClr val="000000"/>
              </a:solidFill>
              <a:latin typeface="Calibri"/>
            </a:endParaRPr>
          </a:p>
          <a:p>
            <a:pPr defTabSz="457200">
              <a:lnSpc>
                <a:spcPct val="100000"/>
              </a:lnSpc>
            </a:pPr>
            <a:r>
              <a:rPr lang="de-DE" sz="900" b="0" strike="noStrike" spc="-1">
                <a:solidFill>
                  <a:schemeClr val="lt1"/>
                </a:solidFill>
                <a:latin typeface="Calibri"/>
              </a:rPr>
              <a:t>    subPl = [];</a:t>
            </a:r>
            <a:endParaRPr lang="en-US" sz="900" b="0" strike="noStrike" spc="-1">
              <a:solidFill>
                <a:srgbClr val="000000"/>
              </a:solidFill>
              <a:latin typeface="Calibri"/>
            </a:endParaRPr>
          </a:p>
          <a:p>
            <a:pPr defTabSz="457200">
              <a:lnSpc>
                <a:spcPct val="100000"/>
              </a:lnSpc>
            </a:pPr>
            <a:r>
              <a:rPr lang="de-DE" sz="900" b="0" strike="noStrike" spc="-1">
                <a:solidFill>
                  <a:schemeClr val="lt1"/>
                </a:solidFill>
                <a:latin typeface="Calibri"/>
              </a:rPr>
              <a:t>    subLi = [];</a:t>
            </a:r>
            <a:endParaRPr lang="en-US" sz="900" b="0" strike="noStrike" spc="-1">
              <a:solidFill>
                <a:srgbClr val="000000"/>
              </a:solidFill>
              <a:latin typeface="Calibri"/>
            </a:endParaRPr>
          </a:p>
          <a:p>
            <a:pPr defTabSz="457200">
              <a:lnSpc>
                <a:spcPct val="100000"/>
              </a:lnSpc>
            </a:pPr>
            <a:r>
              <a:rPr lang="de-DE" sz="1000" b="1" i="1" u="sng" strike="noStrike" spc="-1">
                <a:solidFill>
                  <a:schemeClr val="lt1"/>
                </a:solidFill>
                <a:uFillTx/>
                <a:latin typeface="Calibri"/>
              </a:rPr>
              <a:t>Methods</a:t>
            </a:r>
            <a:endParaRPr lang="en-US" sz="1000" b="0" strike="noStrike" spc="-1">
              <a:solidFill>
                <a:srgbClr val="000000"/>
              </a:solidFill>
              <a:latin typeface="Calibri"/>
            </a:endParaRPr>
          </a:p>
          <a:p>
            <a:pPr defTabSz="457200">
              <a:lnSpc>
                <a:spcPct val="100000"/>
              </a:lnSpc>
            </a:pPr>
            <a:r>
              <a:rPr lang="de-DE" sz="1000" b="0" strike="noStrike" spc="-1">
                <a:solidFill>
                  <a:srgbClr val="000000"/>
                </a:solidFill>
                <a:latin typeface="Calibri"/>
              </a:rPr>
              <a:t>function self = plotGraphClass (dataStream)</a:t>
            </a:r>
            <a:endParaRPr lang="en-US" sz="1000" b="0" strike="noStrike" spc="-1">
              <a:solidFill>
                <a:srgbClr val="000000"/>
              </a:solidFill>
              <a:latin typeface="Calibri"/>
            </a:endParaRPr>
          </a:p>
          <a:p>
            <a:pPr defTabSz="457200">
              <a:lnSpc>
                <a:spcPct val="100000"/>
              </a:lnSpc>
            </a:pPr>
            <a:r>
              <a:rPr lang="de-DE" sz="1000" b="0" strike="noStrike" spc="-1">
                <a:solidFill>
                  <a:srgbClr val="000000"/>
                </a:solidFill>
                <a:latin typeface="Calibri"/>
              </a:rPr>
              <a:t>function draw (self,dataStream)</a:t>
            </a:r>
            <a:endParaRPr lang="en-US" sz="1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2" name="Rechteck: abgerundete Ecken 65"/>
          <p:cNvSpPr/>
          <p:nvPr/>
        </p:nvSpPr>
        <p:spPr>
          <a:xfrm>
            <a:off x="10136520" y="820440"/>
            <a:ext cx="2421720" cy="378720"/>
          </a:xfrm>
          <a:prstGeom prst="roundRect">
            <a:avLst>
              <a:gd name="adj" fmla="val 16667"/>
            </a:avLst>
          </a:prstGeom>
          <a:solidFill>
            <a:srgbClr val="A5A5A5"/>
          </a:solidFill>
          <a:ln>
            <a:solidFill>
              <a:srgbClr val="FFFFFF"/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/>
        </p:style>
        <p:txBody>
          <a:bodyPr horzOverflow="overflow" lIns="90000" tIns="45000" rIns="90000" bIns="45000" numCol="1" spcCol="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de-DE" sz="1000" b="0" strike="noStrike" spc="-1">
                <a:solidFill>
                  <a:schemeClr val="lt1"/>
                </a:solidFill>
                <a:latin typeface="Calibri"/>
              </a:rPr>
              <a:t>function [adc,sp] = biquadFilter(abc,sp,ko)</a:t>
            </a:r>
            <a:endParaRPr lang="en-US" sz="1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3" name="Rechteck: abgerundete Ecken 65"/>
          <p:cNvSpPr/>
          <p:nvPr/>
        </p:nvSpPr>
        <p:spPr>
          <a:xfrm>
            <a:off x="10136520" y="1888200"/>
            <a:ext cx="2421720" cy="378720"/>
          </a:xfrm>
          <a:prstGeom prst="roundRect">
            <a:avLst>
              <a:gd name="adj" fmla="val 16667"/>
            </a:avLst>
          </a:prstGeom>
          <a:solidFill>
            <a:srgbClr val="A5A5A5"/>
          </a:solidFill>
          <a:ln>
            <a:solidFill>
              <a:srgbClr val="FFFFFF"/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/>
        </p:style>
        <p:txBody>
          <a:bodyPr horzOverflow="overflow" lIns="90000" tIns="45000" rIns="90000" bIns="45000" numCol="1" spcCol="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de-DE" sz="1000" b="0" strike="noStrike" spc="-1">
                <a:solidFill>
                  <a:schemeClr val="lt1"/>
                </a:solidFill>
                <a:latin typeface="Calibri"/>
              </a:rPr>
              <a:t>function coeff = calcNotchcoeff (fs,f0)</a:t>
            </a:r>
            <a:endParaRPr lang="en-US" sz="1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4" name="Rechteck: abgerundete Ecken 65"/>
          <p:cNvSpPr/>
          <p:nvPr/>
        </p:nvSpPr>
        <p:spPr>
          <a:xfrm>
            <a:off x="10136520" y="2881080"/>
            <a:ext cx="2421720" cy="378720"/>
          </a:xfrm>
          <a:prstGeom prst="roundRect">
            <a:avLst>
              <a:gd name="adj" fmla="val 16667"/>
            </a:avLst>
          </a:prstGeom>
          <a:solidFill>
            <a:srgbClr val="A5A5A5"/>
          </a:solidFill>
          <a:ln>
            <a:solidFill>
              <a:srgbClr val="FFFFFF"/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/>
        </p:style>
        <p:txBody>
          <a:bodyPr horzOverflow="overflow" lIns="90000" tIns="45000" rIns="90000" bIns="45000" numCol="1" spcCol="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de-DE" sz="1000" b="0" strike="noStrike" spc="-1">
                <a:solidFill>
                  <a:schemeClr val="lt1"/>
                </a:solidFill>
                <a:latin typeface="Calibri"/>
              </a:rPr>
              <a:t>function coeff = calcHPCoeff (fs,f0)</a:t>
            </a:r>
            <a:endParaRPr lang="en-US" sz="1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5" name="Rechteck: abgerundete Ecken 65"/>
          <p:cNvSpPr/>
          <p:nvPr/>
        </p:nvSpPr>
        <p:spPr>
          <a:xfrm>
            <a:off x="10136520" y="3869280"/>
            <a:ext cx="2421720" cy="383400"/>
          </a:xfrm>
          <a:prstGeom prst="roundRect">
            <a:avLst>
              <a:gd name="adj" fmla="val 16667"/>
            </a:avLst>
          </a:prstGeom>
          <a:solidFill>
            <a:srgbClr val="A5A5A5"/>
          </a:solidFill>
          <a:ln>
            <a:solidFill>
              <a:srgbClr val="FFFFFF"/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/>
        </p:style>
        <p:txBody>
          <a:bodyPr horzOverflow="overflow" lIns="90000" tIns="45000" rIns="90000" bIns="45000" numCol="1" spcCol="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de-DE" sz="1000" b="0" strike="noStrike" spc="-1">
                <a:solidFill>
                  <a:schemeClr val="lt1"/>
                </a:solidFill>
                <a:latin typeface="Calibri"/>
              </a:rPr>
              <a:t>function coeff = calcTPCoeff (fs,f0)</a:t>
            </a:r>
            <a:endParaRPr lang="en-US" sz="1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6" name="Rechteck: abgerundete Ecken 5"/>
          <p:cNvSpPr/>
          <p:nvPr/>
        </p:nvSpPr>
        <p:spPr>
          <a:xfrm>
            <a:off x="4702680" y="795600"/>
            <a:ext cx="4156200" cy="4539600"/>
          </a:xfrm>
          <a:prstGeom prst="roundRect">
            <a:avLst>
              <a:gd name="adj" fmla="val 16667"/>
            </a:avLst>
          </a:prstGeom>
          <a:solidFill>
            <a:srgbClr val="A5A5A5"/>
          </a:solidFill>
          <a:ln>
            <a:solidFill>
              <a:srgbClr val="FFFFFF"/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/>
        </p:style>
        <p:txBody>
          <a:bodyPr horzOverflow="overflow" lIns="90000" tIns="45000" rIns="90000" bIns="45000" numCol="1" spcCol="0" anchor="ctr">
            <a:noAutofit/>
          </a:bodyPr>
          <a:lstStyle/>
          <a:p>
            <a:pPr defTabSz="457200">
              <a:lnSpc>
                <a:spcPct val="100000"/>
              </a:lnSpc>
            </a:pPr>
            <a:r>
              <a:rPr lang="de-DE" sz="1050" b="1" i="1" u="sng" strike="noStrike" spc="-1">
                <a:solidFill>
                  <a:schemeClr val="lt1"/>
                </a:solidFill>
                <a:uFillTx/>
                <a:latin typeface="Calibri"/>
              </a:rPr>
              <a:t>Properties</a:t>
            </a:r>
            <a:endParaRPr lang="en-US" sz="1050" b="0" strike="noStrike" spc="-1">
              <a:solidFill>
                <a:srgbClr val="000000"/>
              </a:solidFill>
              <a:latin typeface="Calibri"/>
            </a:endParaRPr>
          </a:p>
          <a:p>
            <a:pPr defTabSz="457200">
              <a:lnSpc>
                <a:spcPct val="100000"/>
              </a:lnSpc>
            </a:pPr>
            <a:r>
              <a:rPr lang="de-DE" sz="900" b="0" strike="noStrike" spc="-1">
                <a:solidFill>
                  <a:schemeClr val="lt1"/>
                </a:solidFill>
                <a:latin typeface="Calibri"/>
              </a:rPr>
              <a:t>name= </a:t>
            </a:r>
            <a:r>
              <a:rPr lang="en-US" sz="900" b="0" strike="noStrike" spc="-1">
                <a:solidFill>
                  <a:schemeClr val="lt1"/>
                </a:solidFill>
                <a:latin typeface="Calibri"/>
              </a:rPr>
              <a:t>""</a:t>
            </a:r>
            <a:r>
              <a:rPr lang="de-DE" sz="900" b="0" strike="noStrike" spc="-1">
                <a:solidFill>
                  <a:schemeClr val="lt1"/>
                </a:solidFill>
                <a:latin typeface="Calibri"/>
              </a:rPr>
              <a:t>;</a:t>
            </a:r>
            <a:endParaRPr lang="en-US" sz="900" b="0" strike="noStrike" spc="-1">
              <a:solidFill>
                <a:srgbClr val="000000"/>
              </a:solidFill>
              <a:latin typeface="Calibri"/>
            </a:endParaRPr>
          </a:p>
          <a:p>
            <a:pPr defTabSz="457200">
              <a:lnSpc>
                <a:spcPct val="100000"/>
              </a:lnSpc>
            </a:pPr>
            <a:r>
              <a:rPr lang="de-DE" sz="900" b="0" strike="noStrike" spc="-1">
                <a:solidFill>
                  <a:schemeClr val="lt1"/>
                </a:solidFill>
                <a:latin typeface="Calibri"/>
              </a:rPr>
              <a:t>array = [];        	ar_index = 1;        	length=6000;     index=1;</a:t>
            </a:r>
            <a:endParaRPr lang="en-US" sz="900" b="0" strike="noStrike" spc="-1">
              <a:solidFill>
                <a:srgbClr val="000000"/>
              </a:solidFill>
              <a:latin typeface="Calibri"/>
            </a:endParaRPr>
          </a:p>
          <a:p>
            <a:pPr defTabSz="457200">
              <a:lnSpc>
                <a:spcPct val="100000"/>
              </a:lnSpc>
            </a:pPr>
            <a:r>
              <a:rPr lang="de-DE" sz="900" b="0" strike="noStrike" spc="-1">
                <a:solidFill>
                  <a:schemeClr val="lt1"/>
                </a:solidFill>
                <a:latin typeface="Calibri"/>
              </a:rPr>
              <a:t>t         = [];	       	dt = 5;       	 t_sum=0;</a:t>
            </a:r>
            <a:endParaRPr lang="en-US" sz="900" b="0" strike="noStrike" spc="-1">
              <a:solidFill>
                <a:srgbClr val="000000"/>
              </a:solidFill>
              <a:latin typeface="Calibri"/>
            </a:endParaRPr>
          </a:p>
          <a:p>
            <a:pPr defTabSz="457200">
              <a:lnSpc>
                <a:spcPct val="100000"/>
              </a:lnSpc>
            </a:pPr>
            <a:r>
              <a:rPr lang="de-DE" sz="900" b="0" strike="noStrike" spc="-1">
                <a:solidFill>
                  <a:schemeClr val="lt1"/>
                </a:solidFill>
                <a:latin typeface="Calibri"/>
              </a:rPr>
              <a:t>plotwidth=800;    	plot=1;        	plcolor= </a:t>
            </a:r>
            <a:r>
              <a:rPr lang="en-US" sz="900" b="0" strike="noStrike" spc="-1">
                <a:solidFill>
                  <a:schemeClr val="lt1"/>
                </a:solidFill>
                <a:latin typeface="Calibri"/>
              </a:rPr>
              <a:t>""</a:t>
            </a:r>
            <a:r>
              <a:rPr lang="de-DE" sz="900" b="0" strike="noStrike" spc="-1">
                <a:solidFill>
                  <a:schemeClr val="lt1"/>
                </a:solidFill>
                <a:latin typeface="Calibri"/>
              </a:rPr>
              <a:t>;</a:t>
            </a:r>
            <a:r>
              <a:rPr lang="en-US" sz="900" b="0" strike="noStrike" spc="-1">
                <a:solidFill>
                  <a:srgbClr val="000000"/>
                </a:solidFill>
                <a:latin typeface="Calibri"/>
              </a:rPr>
              <a:t> </a:t>
            </a:r>
          </a:p>
          <a:p>
            <a:pPr defTabSz="457200">
              <a:lnSpc>
                <a:spcPct val="100000"/>
              </a:lnSpc>
            </a:pPr>
            <a:r>
              <a:rPr lang="de-DE" sz="900" b="0" strike="noStrike" spc="-1">
                <a:solidFill>
                  <a:schemeClr val="lt1"/>
                </a:solidFill>
                <a:latin typeface="Calibri"/>
              </a:rPr>
              <a:t>ylim=0; 		filter=1;</a:t>
            </a:r>
            <a:endParaRPr lang="en-US" sz="900" b="0" strike="noStrike" spc="-1">
              <a:solidFill>
                <a:srgbClr val="000000"/>
              </a:solidFill>
              <a:latin typeface="Calibri"/>
            </a:endParaRPr>
          </a:p>
          <a:p>
            <a:pPr defTabSz="457200">
              <a:lnSpc>
                <a:spcPct val="100000"/>
              </a:lnSpc>
            </a:pPr>
            <a:r>
              <a:rPr lang="de-DE" sz="900" b="0" strike="noStrike" spc="-1">
                <a:solidFill>
                  <a:schemeClr val="lt1"/>
                </a:solidFill>
                <a:latin typeface="Calibri"/>
              </a:rPr>
              <a:t>slopeDetector=0;  	 lastSampl=0;             lastSlope=1;          lastMaxTime=0;</a:t>
            </a:r>
            <a:endParaRPr lang="en-US" sz="900" b="0" strike="noStrike" spc="-1">
              <a:solidFill>
                <a:srgbClr val="000000"/>
              </a:solidFill>
              <a:latin typeface="Calibri"/>
            </a:endParaRPr>
          </a:p>
          <a:p>
            <a:pPr defTabSz="457200">
              <a:lnSpc>
                <a:spcPct val="100000"/>
              </a:lnSpc>
            </a:pPr>
            <a:r>
              <a:rPr lang="de-DE" sz="900" b="0" strike="noStrike" spc="-1">
                <a:solidFill>
                  <a:schemeClr val="lt1"/>
                </a:solidFill>
                <a:latin typeface="Calibri"/>
              </a:rPr>
              <a:t>peakDetector=0;   	 peakThreshold=0;    peakTrigger=0;    lastpeakTime=0;</a:t>
            </a:r>
            <a:endParaRPr lang="en-US" sz="900" b="0" strike="noStrike" spc="-1">
              <a:solidFill>
                <a:srgbClr val="000000"/>
              </a:solidFill>
              <a:latin typeface="Calibri"/>
            </a:endParaRPr>
          </a:p>
          <a:p>
            <a:pPr defTabSz="457200">
              <a:lnSpc>
                <a:spcPct val="100000"/>
              </a:lnSpc>
            </a:pPr>
            <a:r>
              <a:rPr lang="de-DE" sz="900" b="0" strike="noStrike" spc="-1">
                <a:solidFill>
                  <a:schemeClr val="lt1"/>
                </a:solidFill>
                <a:latin typeface="Calibri"/>
              </a:rPr>
              <a:t>evalCounter=0;      	evalWindow=200;   	  BPM=0;</a:t>
            </a:r>
            <a:endParaRPr lang="en-US" sz="900" b="0" strike="noStrike" spc="-1">
              <a:solidFill>
                <a:srgbClr val="000000"/>
              </a:solidFill>
              <a:latin typeface="Calibri"/>
            </a:endParaRPr>
          </a:p>
          <a:p>
            <a:pPr defTabSz="457200">
              <a:lnSpc>
                <a:spcPct val="100000"/>
              </a:lnSpc>
            </a:pPr>
            <a:r>
              <a:rPr lang="de-DE" sz="1050" b="1" i="1" u="sng" strike="noStrike" spc="-1">
                <a:solidFill>
                  <a:schemeClr val="lt1"/>
                </a:solidFill>
                <a:uFillTx/>
                <a:latin typeface="Calibri"/>
              </a:rPr>
              <a:t>Filter-Speicher:</a:t>
            </a:r>
            <a:endParaRPr lang="en-US" sz="1050" b="0" strike="noStrike" spc="-1">
              <a:solidFill>
                <a:srgbClr val="000000"/>
              </a:solidFill>
              <a:latin typeface="Calibri"/>
            </a:endParaRPr>
          </a:p>
          <a:p>
            <a:pPr defTabSz="457200">
              <a:lnSpc>
                <a:spcPct val="100000"/>
              </a:lnSpc>
            </a:pPr>
            <a:r>
              <a:rPr lang="de-DE" sz="900" b="0" strike="noStrike" spc="-1">
                <a:solidFill>
                  <a:schemeClr val="lt1"/>
                </a:solidFill>
                <a:latin typeface="Calibri"/>
              </a:rPr>
              <a:t>HP_sp=[000000];   NO_sp=[000000];    TP_sp=[000000];    DO_sp=[000000];   DQ2_sp=[000000];</a:t>
            </a:r>
            <a:endParaRPr lang="en-US" sz="900" b="0" strike="noStrike" spc="-1">
              <a:solidFill>
                <a:srgbClr val="000000"/>
              </a:solidFill>
              <a:latin typeface="Calibri"/>
            </a:endParaRPr>
          </a:p>
          <a:p>
            <a:pPr defTabSz="457200">
              <a:lnSpc>
                <a:spcPct val="100000"/>
              </a:lnSpc>
            </a:pPr>
            <a:r>
              <a:rPr lang="de-DE" sz="1050" b="1" i="1" u="sng" strike="noStrike" spc="-1">
                <a:solidFill>
                  <a:schemeClr val="lt1"/>
                </a:solidFill>
                <a:uFillTx/>
                <a:latin typeface="Calibri"/>
              </a:rPr>
              <a:t>Filter-Koeffizienten:</a:t>
            </a:r>
            <a:endParaRPr lang="en-US" sz="1050" b="0" strike="noStrike" spc="-1">
              <a:solidFill>
                <a:srgbClr val="000000"/>
              </a:solidFill>
              <a:latin typeface="Calibri"/>
            </a:endParaRPr>
          </a:p>
          <a:p>
            <a:pPr defTabSz="457200">
              <a:lnSpc>
                <a:spcPct val="100000"/>
              </a:lnSpc>
            </a:pPr>
            <a:r>
              <a:rPr lang="de-DE" sz="900" b="0" strike="noStrike" spc="-1">
                <a:solidFill>
                  <a:schemeClr val="lt1"/>
                </a:solidFill>
                <a:latin typeface="Calibri"/>
              </a:rPr>
              <a:t>HP_ko=[000000];  NO_ko=[000000];    TP_ko=[000000];   DO_ko=[000000];   DQ2_ko=[000000];</a:t>
            </a:r>
            <a:endParaRPr lang="en-US" sz="900" b="0" strike="noStrike" spc="-1">
              <a:solidFill>
                <a:srgbClr val="000000"/>
              </a:solidFill>
              <a:latin typeface="Calibri"/>
            </a:endParaRPr>
          </a:p>
          <a:p>
            <a:pPr defTabSz="457200">
              <a:lnSpc>
                <a:spcPct val="100000"/>
              </a:lnSpc>
            </a:pPr>
            <a:r>
              <a:rPr lang="de-DE" sz="900" b="0" strike="noStrike" spc="-1">
                <a:solidFill>
                  <a:schemeClr val="lt1"/>
                </a:solidFill>
                <a:latin typeface="Calibri"/>
              </a:rPr>
              <a:t> </a:t>
            </a:r>
            <a:endParaRPr lang="en-US" sz="900" b="0" strike="noStrike" spc="-1">
              <a:solidFill>
                <a:srgbClr val="000000"/>
              </a:solidFill>
              <a:latin typeface="Calibri"/>
            </a:endParaRPr>
          </a:p>
          <a:p>
            <a:pPr defTabSz="457200">
              <a:lnSpc>
                <a:spcPct val="100000"/>
              </a:lnSpc>
            </a:pPr>
            <a:r>
              <a:rPr lang="de-DE" sz="1000" b="1" i="1" u="sng" strike="noStrike" spc="-1">
                <a:solidFill>
                  <a:schemeClr val="lt1"/>
                </a:solidFill>
                <a:uFillTx/>
                <a:latin typeface="Calibri"/>
              </a:rPr>
              <a:t>Methods</a:t>
            </a:r>
            <a:endParaRPr lang="en-US" sz="1000" b="0" strike="noStrike" spc="-1">
              <a:solidFill>
                <a:srgbClr val="000000"/>
              </a:solidFill>
              <a:latin typeface="Calibri"/>
            </a:endParaRPr>
          </a:p>
          <a:p>
            <a:pPr defTabSz="457200"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Calibri"/>
              </a:rPr>
              <a:t>function self = dataStreamClass(name,plcolor,dt,plotwidth,plot,filter)</a:t>
            </a:r>
          </a:p>
          <a:p>
            <a:pPr defTabSz="457200">
              <a:lnSpc>
                <a:spcPct val="100000"/>
              </a:lnSpc>
            </a:pPr>
            <a:r>
              <a:rPr lang="de-DE" sz="1000" b="0" strike="noStrike" spc="-1">
                <a:solidFill>
                  <a:srgbClr val="000000"/>
                </a:solidFill>
                <a:latin typeface="Calibri"/>
              </a:rPr>
              <a:t>function createFilter(self,f_abtast,f_HP,f_NO,f_TP)</a:t>
            </a:r>
            <a:endParaRPr lang="en-US" sz="1000" b="0" strike="noStrike" spc="-1">
              <a:solidFill>
                <a:srgbClr val="000000"/>
              </a:solidFill>
              <a:latin typeface="Calibri"/>
            </a:endParaRPr>
          </a:p>
          <a:p>
            <a:pPr defTabSz="457200">
              <a:lnSpc>
                <a:spcPct val="100000"/>
              </a:lnSpc>
            </a:pPr>
            <a:r>
              <a:rPr lang="de-DE" sz="1000" b="0" strike="noStrike" spc="-1">
                <a:solidFill>
                  <a:schemeClr val="lt1"/>
                </a:solidFill>
                <a:latin typeface="Calibri"/>
              </a:rPr>
              <a:t>function initRingBuffer(self)</a:t>
            </a:r>
            <a:endParaRPr lang="en-US" sz="1000" b="0" strike="noStrike" spc="-1">
              <a:solidFill>
                <a:srgbClr val="000000"/>
              </a:solidFill>
              <a:latin typeface="Calibri"/>
            </a:endParaRPr>
          </a:p>
          <a:p>
            <a:pPr defTabSz="457200">
              <a:lnSpc>
                <a:spcPct val="100000"/>
              </a:lnSpc>
            </a:pPr>
            <a:r>
              <a:rPr lang="de-DE" sz="1000" b="0" strike="noStrike" spc="-1">
                <a:solidFill>
                  <a:schemeClr val="lt1"/>
                </a:solidFill>
                <a:latin typeface="Calibri"/>
              </a:rPr>
              <a:t>function addSample(self,sample,sample_t)</a:t>
            </a:r>
            <a:endParaRPr lang="en-US" sz="1000" b="0" strike="noStrike" spc="-1">
              <a:solidFill>
                <a:srgbClr val="000000"/>
              </a:solidFill>
              <a:latin typeface="Calibri"/>
            </a:endParaRPr>
          </a:p>
          <a:p>
            <a:pPr defTabSz="457200">
              <a:lnSpc>
                <a:spcPct val="100000"/>
              </a:lnSpc>
            </a:pPr>
            <a:r>
              <a:rPr lang="de-DE" sz="1000" b="0" strike="noStrike" spc="-1">
                <a:solidFill>
                  <a:schemeClr val="lt1"/>
                </a:solidFill>
                <a:latin typeface="Calibri"/>
              </a:rPr>
              <a:t>function [ret_array, ret_time] = lastSamples(self,n)</a:t>
            </a:r>
            <a:endParaRPr lang="en-US" sz="1000" b="0" strike="noStrike" spc="-1">
              <a:solidFill>
                <a:srgbClr val="000000"/>
              </a:solidFill>
              <a:latin typeface="Calibri"/>
            </a:endParaRPr>
          </a:p>
          <a:p>
            <a:pPr defTabSz="457200">
              <a:lnSpc>
                <a:spcPct val="100000"/>
              </a:lnSpc>
            </a:pPr>
            <a:r>
              <a:rPr lang="de-DE" sz="1000" b="0" strike="noStrike" spc="-1">
                <a:solidFill>
                  <a:schemeClr val="lt1"/>
                </a:solidFill>
                <a:latin typeface="Calibri"/>
              </a:rPr>
              <a:t>function sample = doFilter(self,sample)</a:t>
            </a:r>
            <a:endParaRPr lang="en-US" sz="1000" b="0" strike="noStrike" spc="-1">
              <a:solidFill>
                <a:srgbClr val="000000"/>
              </a:solidFill>
              <a:latin typeface="Calibri"/>
            </a:endParaRPr>
          </a:p>
          <a:p>
            <a:pPr defTabSz="457200">
              <a:lnSpc>
                <a:spcPct val="100000"/>
              </a:lnSpc>
            </a:pPr>
            <a:r>
              <a:rPr lang="de-DE" sz="1000" b="0" strike="noStrike" spc="-1">
                <a:solidFill>
                  <a:schemeClr val="lt1"/>
                </a:solidFill>
                <a:latin typeface="Calibri"/>
              </a:rPr>
              <a:t>function slopeDetectorFunction(self,sample)</a:t>
            </a:r>
            <a:endParaRPr lang="en-US" sz="1000" b="0" strike="noStrike" spc="-1">
              <a:solidFill>
                <a:srgbClr val="000000"/>
              </a:solidFill>
              <a:latin typeface="Calibri"/>
            </a:endParaRPr>
          </a:p>
          <a:p>
            <a:pPr defTabSz="457200">
              <a:lnSpc>
                <a:spcPct val="100000"/>
              </a:lnSpc>
            </a:pPr>
            <a:r>
              <a:rPr lang="de-DE" sz="1000" b="0" strike="noStrike" spc="-1">
                <a:solidFill>
                  <a:schemeClr val="lt1"/>
                </a:solidFill>
                <a:latin typeface="Calibri"/>
              </a:rPr>
              <a:t>function evalThreshold(self)</a:t>
            </a:r>
            <a:endParaRPr lang="en-US" sz="1000" b="0" strike="noStrike" spc="-1">
              <a:solidFill>
                <a:srgbClr val="000000"/>
              </a:solidFill>
              <a:latin typeface="Calibri"/>
            </a:endParaRPr>
          </a:p>
          <a:p>
            <a:pPr defTabSz="457200">
              <a:lnSpc>
                <a:spcPct val="100000"/>
              </a:lnSpc>
            </a:pPr>
            <a:r>
              <a:rPr lang="de-DE" sz="1000" b="0" strike="noStrike" spc="-1">
                <a:solidFill>
                  <a:schemeClr val="lt1"/>
                </a:solidFill>
                <a:latin typeface="Calibri"/>
              </a:rPr>
              <a:t>function peakDetectorFunction(self,sample)</a:t>
            </a:r>
            <a:endParaRPr lang="en-US" sz="1000" b="0" strike="noStrike" spc="-1">
              <a:solidFill>
                <a:srgbClr val="000000"/>
              </a:solidFill>
              <a:latin typeface="Calibri"/>
            </a:endParaRPr>
          </a:p>
          <a:p>
            <a:pPr defTabSz="457200">
              <a:lnSpc>
                <a:spcPct val="100000"/>
              </a:lnSpc>
            </a:pPr>
            <a:r>
              <a:rPr lang="de-DE" sz="1000" b="0" strike="noStrike" spc="-1">
                <a:solidFill>
                  <a:schemeClr val="lt1"/>
                </a:solidFill>
                <a:latin typeface="Calibri"/>
              </a:rPr>
              <a:t>function clear (self)</a:t>
            </a:r>
            <a:endParaRPr lang="en-US" sz="1000" b="0" strike="noStrike" spc="-1">
              <a:solidFill>
                <a:srgbClr val="000000"/>
              </a:solidFill>
              <a:latin typeface="Calibri"/>
            </a:endParaRPr>
          </a:p>
          <a:p>
            <a:pPr defTabSz="457200">
              <a:lnSpc>
                <a:spcPct val="100000"/>
              </a:lnSpc>
            </a:pPr>
            <a:r>
              <a:rPr lang="de-DE" sz="1000" b="0" strike="noStrike" spc="-1">
                <a:solidFill>
                  <a:schemeClr val="lt1"/>
                </a:solidFill>
                <a:latin typeface="Calibri"/>
              </a:rPr>
              <a:t>function disp (self)</a:t>
            </a:r>
            <a:r>
              <a:rPr lang="de-DE" sz="1000" b="0" strike="noStrike" spc="-1">
                <a:solidFill>
                  <a:schemeClr val="lt1"/>
                </a:solidFill>
                <a:latin typeface="Calibri Light"/>
              </a:rPr>
              <a:t> </a:t>
            </a:r>
            <a:endParaRPr lang="en-US" sz="1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8" name="Rechteck: abgerundete Ecken 65"/>
          <p:cNvSpPr/>
          <p:nvPr/>
        </p:nvSpPr>
        <p:spPr>
          <a:xfrm>
            <a:off x="1183140" y="8837640"/>
            <a:ext cx="2386800" cy="631440"/>
          </a:xfrm>
          <a:prstGeom prst="roundRect">
            <a:avLst>
              <a:gd name="adj" fmla="val 16667"/>
            </a:avLst>
          </a:prstGeom>
          <a:solidFill>
            <a:srgbClr val="A5A5A5"/>
          </a:solidFill>
          <a:ln>
            <a:solidFill>
              <a:srgbClr val="FFFFFF"/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/>
        </p:style>
        <p:txBody>
          <a:bodyPr horzOverflow="overflow" lIns="90000" tIns="45000" rIns="90000" bIns="45000" numCol="1" spcCol="0" anchor="ctr">
            <a:noAutofit/>
          </a:bodyPr>
          <a:lstStyle/>
          <a:p>
            <a:pPr defTabSz="457200">
              <a:lnSpc>
                <a:spcPct val="100000"/>
              </a:lnSpc>
            </a:pPr>
            <a:r>
              <a:rPr lang="de-DE" sz="1000" b="0" strike="noStrike" spc="-1">
                <a:solidFill>
                  <a:schemeClr val="lt1"/>
                </a:solidFill>
                <a:latin typeface="Calibri"/>
              </a:rPr>
              <a:t> </a:t>
            </a:r>
            <a:r>
              <a:rPr lang="de-DE" sz="1000" b="0" strike="noStrike" spc="-1">
                <a:solidFill>
                  <a:srgbClr val="000000"/>
                </a:solidFill>
                <a:latin typeface="Calibri"/>
              </a:rPr>
              <a:t>function  displayInfo(fi_1)</a:t>
            </a:r>
            <a:endParaRPr lang="en-US" sz="1000" b="0" strike="noStrike" spc="-1">
              <a:solidFill>
                <a:srgbClr val="000000"/>
              </a:solidFill>
              <a:latin typeface="Calibri"/>
            </a:endParaRPr>
          </a:p>
        </p:txBody>
      </p:sp>
      <p:cxnSp>
        <p:nvCxnSpPr>
          <p:cNvPr id="69" name="Straight Arrow Connector 76"/>
          <p:cNvCxnSpPr>
            <a:endCxn id="45" idx="3"/>
          </p:cNvCxnSpPr>
          <p:nvPr/>
        </p:nvCxnSpPr>
        <p:spPr>
          <a:xfrm>
            <a:off x="2349720" y="845640"/>
            <a:ext cx="199080" cy="381240"/>
          </a:xfrm>
          <a:prstGeom prst="straightConnector1">
            <a:avLst/>
          </a:prstGeom>
          <a:ln>
            <a:noFill/>
          </a:ln>
        </p:spPr>
      </p:cxnSp>
      <p:cxnSp>
        <p:nvCxnSpPr>
          <p:cNvPr id="70" name="Straight Arrow Connector 86"/>
          <p:cNvCxnSpPr>
            <a:stCxn id="45" idx="3"/>
            <a:endCxn id="45" idx="3"/>
          </p:cNvCxnSpPr>
          <p:nvPr/>
        </p:nvCxnSpPr>
        <p:spPr>
          <a:xfrm>
            <a:off x="2548440" y="1226520"/>
            <a:ext cx="360" cy="360"/>
          </a:xfrm>
          <a:prstGeom prst="straightConnector1">
            <a:avLst/>
          </a:prstGeom>
          <a:ln>
            <a:noFill/>
          </a:ln>
        </p:spPr>
      </p:cxnSp>
      <p:cxnSp>
        <p:nvCxnSpPr>
          <p:cNvPr id="71" name="Elbow Connector 99"/>
          <p:cNvCxnSpPr>
            <a:stCxn id="46" idx="1"/>
          </p:cNvCxnSpPr>
          <p:nvPr/>
        </p:nvCxnSpPr>
        <p:spPr>
          <a:xfrm rot="10800000">
            <a:off x="1752840" y="669960"/>
            <a:ext cx="3010680" cy="4863600"/>
          </a:xfrm>
          <a:prstGeom prst="bentConnector3">
            <a:avLst>
              <a:gd name="adj1" fmla="val 100000"/>
            </a:avLst>
          </a:prstGeom>
          <a:ln>
            <a:noFill/>
          </a:ln>
        </p:spPr>
      </p:cxnSp>
      <p:cxnSp>
        <p:nvCxnSpPr>
          <p:cNvPr id="72" name="Elbow Connector 118"/>
          <p:cNvCxnSpPr>
            <a:cxnSpLocks/>
            <a:stCxn id="47" idx="3"/>
            <a:endCxn id="47" idx="3"/>
          </p:cNvCxnSpPr>
          <p:nvPr/>
        </p:nvCxnSpPr>
        <p:spPr>
          <a:xfrm>
            <a:off x="3319740" y="5549400"/>
            <a:ext cx="12700" cy="12700"/>
          </a:xfrm>
          <a:prstGeom prst="bentConnector3">
            <a:avLst>
              <a:gd name="adj1" fmla="val 1800000"/>
            </a:avLst>
          </a:prstGeom>
          <a:ln>
            <a:noFill/>
          </a:ln>
        </p:spPr>
      </p:cxnSp>
      <p:sp>
        <p:nvSpPr>
          <p:cNvPr id="55" name="Rechteck: abgerundete Ecken 8"/>
          <p:cNvSpPr/>
          <p:nvPr/>
        </p:nvSpPr>
        <p:spPr>
          <a:xfrm>
            <a:off x="4742280" y="333720"/>
            <a:ext cx="4008600" cy="435240"/>
          </a:xfrm>
          <a:prstGeom prst="roundRect">
            <a:avLst>
              <a:gd name="adj" fmla="val 16667"/>
            </a:avLst>
          </a:prstGeom>
          <a:solidFill>
            <a:srgbClr val="4472C4"/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horzOverflow="overflow" lIns="90000" tIns="45000" rIns="90000" bIns="45000" numCol="1" spcCol="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de-DE" sz="1800" b="0" strike="noStrike" spc="-1" dirty="0" err="1">
                <a:solidFill>
                  <a:schemeClr val="lt1"/>
                </a:solidFill>
                <a:latin typeface="Calibri"/>
              </a:rPr>
              <a:t>dataStreamClass.m</a:t>
            </a:r>
            <a:endParaRPr lang="en-US" sz="1800" b="0" strike="noStrike" spc="-1" dirty="0">
              <a:solidFill>
                <a:srgbClr val="FFFFFF"/>
              </a:solidFill>
              <a:latin typeface="Calibri"/>
            </a:endParaRPr>
          </a:p>
        </p:txBody>
      </p:sp>
      <p:cxnSp>
        <p:nvCxnSpPr>
          <p:cNvPr id="5" name="Gerade Verbindung mit Pfeil 4">
            <a:extLst>
              <a:ext uri="{FF2B5EF4-FFF2-40B4-BE49-F238E27FC236}">
                <a16:creationId xmlns:a16="http://schemas.microsoft.com/office/drawing/2014/main" id="{512F537F-6BDD-4B12-861E-9700B9683D3C}"/>
              </a:ext>
            </a:extLst>
          </p:cNvPr>
          <p:cNvCxnSpPr>
            <a:stCxn id="45" idx="3"/>
          </p:cNvCxnSpPr>
          <p:nvPr/>
        </p:nvCxnSpPr>
        <p:spPr>
          <a:xfrm>
            <a:off x="2548440" y="1226520"/>
            <a:ext cx="1895223" cy="16329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4A61618D-968A-44EE-B902-6782CCF09A0E}"/>
              </a:ext>
            </a:extLst>
          </p:cNvPr>
          <p:cNvCxnSpPr>
            <a:cxnSpLocks/>
            <a:stCxn id="45" idx="3"/>
            <a:endCxn id="55" idx="1"/>
          </p:cNvCxnSpPr>
          <p:nvPr/>
        </p:nvCxnSpPr>
        <p:spPr>
          <a:xfrm flipV="1">
            <a:off x="2548440" y="551340"/>
            <a:ext cx="2193840" cy="675180"/>
          </a:xfrm>
          <a:prstGeom prst="straightConnector1">
            <a:avLst/>
          </a:prstGeom>
          <a:ln w="28575">
            <a:solidFill>
              <a:schemeClr val="bg2">
                <a:lumMod val="75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Gerade Verbindung mit Pfeil 39">
            <a:extLst>
              <a:ext uri="{FF2B5EF4-FFF2-40B4-BE49-F238E27FC236}">
                <a16:creationId xmlns:a16="http://schemas.microsoft.com/office/drawing/2014/main" id="{98698B88-5C6C-465B-8047-287DC4789ABC}"/>
              </a:ext>
            </a:extLst>
          </p:cNvPr>
          <p:cNvCxnSpPr>
            <a:cxnSpLocks/>
            <a:stCxn id="45" idx="3"/>
            <a:endCxn id="46" idx="1"/>
          </p:cNvCxnSpPr>
          <p:nvPr/>
        </p:nvCxnSpPr>
        <p:spPr>
          <a:xfrm>
            <a:off x="2548440" y="1226520"/>
            <a:ext cx="2214720" cy="4307040"/>
          </a:xfrm>
          <a:prstGeom prst="straightConnector1">
            <a:avLst/>
          </a:prstGeom>
          <a:ln w="28575">
            <a:solidFill>
              <a:schemeClr val="bg2">
                <a:lumMod val="75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Gerade Verbindung mit Pfeil 43">
            <a:extLst>
              <a:ext uri="{FF2B5EF4-FFF2-40B4-BE49-F238E27FC236}">
                <a16:creationId xmlns:a16="http://schemas.microsoft.com/office/drawing/2014/main" id="{1BE8EE24-DB7C-4CF7-A899-DCC8DF81A3EA}"/>
              </a:ext>
            </a:extLst>
          </p:cNvPr>
          <p:cNvCxnSpPr>
            <a:cxnSpLocks/>
            <a:stCxn id="45" idx="3"/>
            <a:endCxn id="53" idx="1"/>
          </p:cNvCxnSpPr>
          <p:nvPr/>
        </p:nvCxnSpPr>
        <p:spPr>
          <a:xfrm>
            <a:off x="2548440" y="1226520"/>
            <a:ext cx="2253960" cy="6892200"/>
          </a:xfrm>
          <a:prstGeom prst="straightConnector1">
            <a:avLst/>
          </a:prstGeom>
          <a:ln w="28575">
            <a:solidFill>
              <a:schemeClr val="bg2">
                <a:lumMod val="75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 Verbindung mit Pfeil 13">
            <a:extLst>
              <a:ext uri="{FF2B5EF4-FFF2-40B4-BE49-F238E27FC236}">
                <a16:creationId xmlns:a16="http://schemas.microsoft.com/office/drawing/2014/main" id="{DC06F36F-F836-430F-AB0E-E3799DFC08CA}"/>
              </a:ext>
            </a:extLst>
          </p:cNvPr>
          <p:cNvCxnSpPr>
            <a:cxnSpLocks/>
            <a:stCxn id="45" idx="2"/>
            <a:endCxn id="47" idx="0"/>
          </p:cNvCxnSpPr>
          <p:nvPr/>
        </p:nvCxnSpPr>
        <p:spPr>
          <a:xfrm>
            <a:off x="1395720" y="2091240"/>
            <a:ext cx="965880" cy="3243960"/>
          </a:xfrm>
          <a:prstGeom prst="straightConnector1">
            <a:avLst/>
          </a:prstGeom>
          <a:ln w="28575">
            <a:solidFill>
              <a:schemeClr val="tx2">
                <a:lumMod val="60000"/>
                <a:lumOff val="4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Gerade Verbindung mit Pfeil 76">
            <a:extLst>
              <a:ext uri="{FF2B5EF4-FFF2-40B4-BE49-F238E27FC236}">
                <a16:creationId xmlns:a16="http://schemas.microsoft.com/office/drawing/2014/main" id="{DFB0788A-63BA-4B3E-AC36-0313098B37AB}"/>
              </a:ext>
            </a:extLst>
          </p:cNvPr>
          <p:cNvCxnSpPr>
            <a:cxnSpLocks/>
            <a:stCxn id="45" idx="2"/>
            <a:endCxn id="48" idx="0"/>
          </p:cNvCxnSpPr>
          <p:nvPr/>
        </p:nvCxnSpPr>
        <p:spPr>
          <a:xfrm>
            <a:off x="1395720" y="2091240"/>
            <a:ext cx="966060" cy="6345394"/>
          </a:xfrm>
          <a:prstGeom prst="straightConnector1">
            <a:avLst/>
          </a:prstGeom>
          <a:ln w="28575">
            <a:solidFill>
              <a:schemeClr val="tx2">
                <a:lumMod val="60000"/>
                <a:lumOff val="4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Rechteck: abgerundete Ecken 6"/>
          <p:cNvSpPr/>
          <p:nvPr/>
        </p:nvSpPr>
        <p:spPr>
          <a:xfrm>
            <a:off x="1403460" y="5335200"/>
            <a:ext cx="1916280" cy="42840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95ACEA"/>
              </a:gs>
              <a:gs pos="50000">
                <a:srgbClr val="BFCAF0"/>
              </a:gs>
              <a:gs pos="100000">
                <a:srgbClr val="E0E5F6"/>
              </a:gs>
            </a:gsLst>
            <a:path path="circle">
              <a:fillToRect l="50000" t="50000" r="50000" b="50000"/>
            </a:path>
          </a:gra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horzOverflow="overflow" lIns="90000" tIns="45000" rIns="90000" bIns="45000" numCol="1" spcCol="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de-DE" sz="1800" b="0" strike="noStrike" spc="-1">
                <a:solidFill>
                  <a:schemeClr val="lt1"/>
                </a:solidFill>
                <a:latin typeface="Calibri"/>
              </a:rPr>
              <a:t>GUI_Elements.m</a:t>
            </a: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7" name="Rechteck: abgerundete Ecken 65"/>
          <p:cNvSpPr/>
          <p:nvPr/>
        </p:nvSpPr>
        <p:spPr>
          <a:xfrm>
            <a:off x="1183140" y="5790600"/>
            <a:ext cx="2386800" cy="2092320"/>
          </a:xfrm>
          <a:prstGeom prst="roundRect">
            <a:avLst>
              <a:gd name="adj" fmla="val 16667"/>
            </a:avLst>
          </a:prstGeom>
          <a:solidFill>
            <a:srgbClr val="A5A5A5"/>
          </a:solidFill>
          <a:ln>
            <a:solidFill>
              <a:srgbClr val="FFFFFF"/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/>
        </p:style>
        <p:txBody>
          <a:bodyPr horzOverflow="overflow" lIns="90000" tIns="45000" rIns="90000" bIns="45000" numCol="1" spcCol="0" anchor="ctr">
            <a:noAutofit/>
          </a:bodyPr>
          <a:lstStyle/>
          <a:p>
            <a:pPr defTabSz="457200">
              <a:lnSpc>
                <a:spcPct val="100000"/>
              </a:lnSpc>
            </a:pPr>
            <a:r>
              <a:rPr lang="de-DE" sz="1000" b="0" strike="noStrike" spc="-1">
                <a:solidFill>
                  <a:schemeClr val="lt1"/>
                </a:solidFill>
                <a:latin typeface="Calibri"/>
              </a:rPr>
              <a:t> function cb_changed(`,`)</a:t>
            </a:r>
            <a:endParaRPr lang="en-US" sz="1000" b="0" strike="noStrike" spc="-1">
              <a:solidFill>
                <a:srgbClr val="000000"/>
              </a:solidFill>
              <a:latin typeface="Calibri"/>
            </a:endParaRPr>
          </a:p>
          <a:p>
            <a:pPr defTabSz="457200">
              <a:lnSpc>
                <a:spcPct val="100000"/>
              </a:lnSpc>
            </a:pPr>
            <a:r>
              <a:rPr lang="de-DE" sz="1000" b="0" strike="noStrike" spc="-1">
                <a:solidFill>
                  <a:schemeClr val="lt1"/>
                </a:solidFill>
                <a:latin typeface="Calibri"/>
              </a:rPr>
              <a:t> function cb_NO_changed(`,`)</a:t>
            </a:r>
            <a:endParaRPr lang="en-US" sz="1000" b="0" strike="noStrike" spc="-1">
              <a:solidFill>
                <a:srgbClr val="000000"/>
              </a:solidFill>
              <a:latin typeface="Calibri"/>
            </a:endParaRPr>
          </a:p>
          <a:p>
            <a:pPr defTabSz="457200">
              <a:lnSpc>
                <a:spcPct val="100000"/>
              </a:lnSpc>
            </a:pPr>
            <a:r>
              <a:rPr lang="de-DE" sz="1000" b="0" strike="noStrike" spc="-1">
                <a:solidFill>
                  <a:schemeClr val="lt1"/>
                </a:solidFill>
                <a:latin typeface="Calibri"/>
              </a:rPr>
              <a:t> function cb_TP_changed(`,`)</a:t>
            </a:r>
            <a:endParaRPr lang="en-US" sz="1000" b="0" strike="noStrike" spc="-1">
              <a:solidFill>
                <a:srgbClr val="000000"/>
              </a:solidFill>
              <a:latin typeface="Calibri"/>
            </a:endParaRPr>
          </a:p>
          <a:p>
            <a:pPr defTabSz="457200">
              <a:lnSpc>
                <a:spcPct val="100000"/>
              </a:lnSpc>
            </a:pPr>
            <a:r>
              <a:rPr lang="de-DE" sz="1000" b="0" strike="noStrike" spc="-1">
                <a:solidFill>
                  <a:schemeClr val="lt1"/>
                </a:solidFill>
                <a:latin typeface="Calibri"/>
              </a:rPr>
              <a:t> function cb_DQ_changed(`,`)</a:t>
            </a:r>
            <a:endParaRPr lang="en-US" sz="1000" b="0" strike="noStrike" spc="-1">
              <a:solidFill>
                <a:srgbClr val="000000"/>
              </a:solidFill>
              <a:latin typeface="Calibri"/>
            </a:endParaRPr>
          </a:p>
          <a:p>
            <a:pPr defTabSz="457200">
              <a:lnSpc>
                <a:spcPct val="100000"/>
              </a:lnSpc>
            </a:pPr>
            <a:r>
              <a:rPr lang="de-DE" sz="1000" b="0" strike="noStrike" spc="-1">
                <a:solidFill>
                  <a:schemeClr val="lt1"/>
                </a:solidFill>
                <a:latin typeface="Calibri"/>
              </a:rPr>
              <a:t> function cb_DQ2_changed(`,`)</a:t>
            </a:r>
            <a:endParaRPr lang="en-US" sz="1000" b="0" strike="noStrike" spc="-1">
              <a:solidFill>
                <a:srgbClr val="000000"/>
              </a:solidFill>
              <a:latin typeface="Calibri"/>
            </a:endParaRPr>
          </a:p>
          <a:p>
            <a:pPr defTabSz="457200">
              <a:lnSpc>
                <a:spcPct val="100000"/>
              </a:lnSpc>
            </a:pPr>
            <a:r>
              <a:rPr lang="de-DE" sz="1000" b="0" strike="noStrike" spc="-1">
                <a:solidFill>
                  <a:schemeClr val="lt1"/>
                </a:solidFill>
                <a:latin typeface="Calibri"/>
              </a:rPr>
              <a:t> function Clear_Button_pressed(`,`)</a:t>
            </a:r>
            <a:endParaRPr lang="en-US" sz="1000" b="0" strike="noStrike" spc="-1">
              <a:solidFill>
                <a:srgbClr val="000000"/>
              </a:solidFill>
              <a:latin typeface="Calibri"/>
            </a:endParaRPr>
          </a:p>
          <a:p>
            <a:pPr defTabSz="457200">
              <a:lnSpc>
                <a:spcPct val="100000"/>
              </a:lnSpc>
            </a:pPr>
            <a:r>
              <a:rPr lang="de-DE" sz="1000" b="0" strike="noStrike" spc="-1">
                <a:solidFill>
                  <a:schemeClr val="lt1"/>
                </a:solidFill>
                <a:latin typeface="Calibri"/>
              </a:rPr>
              <a:t> function Save_Button_pressed(`,`)</a:t>
            </a:r>
            <a:endParaRPr lang="en-US" sz="1000" b="0" strike="noStrike" spc="-1">
              <a:solidFill>
                <a:srgbClr val="000000"/>
              </a:solidFill>
              <a:latin typeface="Calibri"/>
            </a:endParaRPr>
          </a:p>
          <a:p>
            <a:pPr defTabSz="457200">
              <a:lnSpc>
                <a:spcPct val="100000"/>
              </a:lnSpc>
            </a:pPr>
            <a:r>
              <a:rPr lang="de-DE" sz="1000" b="0" strike="noStrike" spc="-1">
                <a:solidFill>
                  <a:schemeClr val="lt1"/>
                </a:solidFill>
                <a:latin typeface="Calibri"/>
              </a:rPr>
              <a:t> function Rec_Button_pressed(`,`)</a:t>
            </a:r>
            <a:endParaRPr lang="en-US" sz="1000" b="0" strike="noStrike" spc="-1">
              <a:solidFill>
                <a:srgbClr val="000000"/>
              </a:solidFill>
              <a:latin typeface="Calibri"/>
            </a:endParaRPr>
          </a:p>
          <a:p>
            <a:pPr defTabSz="457200">
              <a:lnSpc>
                <a:spcPct val="100000"/>
              </a:lnSpc>
            </a:pPr>
            <a:r>
              <a:rPr lang="de-DE" sz="1000" b="0" strike="noStrike" spc="-1">
                <a:solidFill>
                  <a:schemeClr val="lt1"/>
                </a:solidFill>
                <a:latin typeface="Calibri"/>
              </a:rPr>
              <a:t> function onclosefigure(h,e)</a:t>
            </a:r>
            <a:endParaRPr lang="en-US" sz="10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: abgerundete Ecken 4">
            <a:extLst>
              <a:ext uri="{FF2B5EF4-FFF2-40B4-BE49-F238E27FC236}">
                <a16:creationId xmlns:a16="http://schemas.microsoft.com/office/drawing/2014/main" id="{0F28E491-AD02-681E-FFC8-5BCD7A2DDFE6}"/>
              </a:ext>
            </a:extLst>
          </p:cNvPr>
          <p:cNvSpPr/>
          <p:nvPr/>
        </p:nvSpPr>
        <p:spPr>
          <a:xfrm>
            <a:off x="3411525" y="958793"/>
            <a:ext cx="4008600" cy="395280"/>
          </a:xfrm>
          <a:prstGeom prst="roundRect">
            <a:avLst>
              <a:gd name="adj" fmla="val 17334"/>
            </a:avLst>
          </a:prstGeom>
          <a:solidFill>
            <a:srgbClr val="4472C4"/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horzOverflow="overflow" lIns="90000" tIns="45000" rIns="90000" bIns="45000" numCol="1" spcCol="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de-DE" sz="1800" b="0" strike="noStrike" spc="-1">
                <a:solidFill>
                  <a:schemeClr val="lt1"/>
                </a:solidFill>
                <a:latin typeface="Calibri"/>
              </a:rPr>
              <a:t>serialPortClass.m</a:t>
            </a:r>
            <a:endParaRPr lang="en-US" sz="18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973BF0A3-4952-A37C-EAEF-D3D6DE38608F}"/>
              </a:ext>
            </a:extLst>
          </p:cNvPr>
          <p:cNvSpPr txBox="1"/>
          <p:nvPr/>
        </p:nvSpPr>
        <p:spPr>
          <a:xfrm>
            <a:off x="3411525" y="1491843"/>
            <a:ext cx="5477636" cy="20774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200" b="1" dirty="0" err="1"/>
              <a:t>function</a:t>
            </a:r>
            <a:r>
              <a:rPr lang="de-DE" sz="1200" b="1" dirty="0"/>
              <a:t> [</a:t>
            </a:r>
            <a:r>
              <a:rPr lang="de-DE" sz="1200" b="1" dirty="0" err="1"/>
              <a:t>bytesAvailable,inChar</a:t>
            </a:r>
            <a:r>
              <a:rPr lang="de-DE" sz="1200" b="1" dirty="0"/>
              <a:t>] = </a:t>
            </a:r>
            <a:r>
              <a:rPr lang="de-DE" sz="1200" b="1" dirty="0" err="1"/>
              <a:t>readPort</a:t>
            </a:r>
            <a:r>
              <a:rPr lang="de-DE" sz="1200" b="1" dirty="0"/>
              <a:t>(</a:t>
            </a:r>
            <a:r>
              <a:rPr lang="de-DE" sz="1200" b="1" dirty="0" err="1"/>
              <a:t>self</a:t>
            </a:r>
            <a:r>
              <a:rPr lang="de-DE" sz="1200" b="1" dirty="0"/>
              <a:t>)</a:t>
            </a:r>
          </a:p>
          <a:p>
            <a:r>
              <a:rPr lang="de-DE" sz="1200" dirty="0"/>
              <a:t>&gt;&gt; serieller Port wird ausgelesen</a:t>
            </a:r>
          </a:p>
          <a:p>
            <a:r>
              <a:rPr lang="de-DE" sz="1200" dirty="0"/>
              <a:t>&gt;&gt; Eingangsdaten werden in </a:t>
            </a:r>
            <a:r>
              <a:rPr lang="de-DE" sz="1200" b="1" dirty="0" err="1"/>
              <a:t>inBuffer</a:t>
            </a:r>
            <a:r>
              <a:rPr lang="de-DE" sz="1200" dirty="0"/>
              <a:t> abgelegt</a:t>
            </a:r>
          </a:p>
          <a:p>
            <a:r>
              <a:rPr lang="de-DE" sz="1200" dirty="0"/>
              <a:t>&gt;&gt; </a:t>
            </a:r>
            <a:r>
              <a:rPr lang="de-DE" sz="1200" b="1" dirty="0" err="1"/>
              <a:t>inChar</a:t>
            </a:r>
            <a:r>
              <a:rPr lang="de-DE" sz="1200" dirty="0"/>
              <a:t> ist der Teil des </a:t>
            </a:r>
            <a:r>
              <a:rPr lang="de-DE" sz="1200" b="1" dirty="0" err="1"/>
              <a:t>inBuffer</a:t>
            </a:r>
            <a:r>
              <a:rPr lang="de-DE" sz="1200" dirty="0"/>
              <a:t> bis zum letzten LF &gt;&gt; Rückgabewert</a:t>
            </a:r>
          </a:p>
          <a:p>
            <a:r>
              <a:rPr lang="de-DE" sz="1200" dirty="0"/>
              <a:t>&gt;&gt; ein möglicher Rest bleibt im </a:t>
            </a:r>
            <a:r>
              <a:rPr lang="de-DE" sz="1200" dirty="0" err="1"/>
              <a:t>inBuffer</a:t>
            </a:r>
            <a:r>
              <a:rPr lang="de-DE" sz="1200" dirty="0"/>
              <a:t> und wird beim nächsten Lesen aufgefüllt</a:t>
            </a:r>
          </a:p>
          <a:p>
            <a:endParaRPr lang="de-DE" sz="900" dirty="0"/>
          </a:p>
          <a:p>
            <a:r>
              <a:rPr lang="de-DE" sz="1200" b="1" dirty="0" err="1"/>
              <a:t>function</a:t>
            </a:r>
            <a:r>
              <a:rPr lang="de-DE" sz="1200" b="1" dirty="0"/>
              <a:t> </a:t>
            </a:r>
            <a:r>
              <a:rPr lang="de-DE" sz="1200" b="1" dirty="0" err="1"/>
              <a:t>countMatches</a:t>
            </a:r>
            <a:r>
              <a:rPr lang="de-DE" sz="1200" b="1" dirty="0"/>
              <a:t> = </a:t>
            </a:r>
            <a:r>
              <a:rPr lang="de-DE" sz="1200" b="1" dirty="0" err="1"/>
              <a:t>parseInput</a:t>
            </a:r>
            <a:r>
              <a:rPr lang="de-DE" sz="1200" b="1" dirty="0"/>
              <a:t>(</a:t>
            </a:r>
            <a:r>
              <a:rPr lang="de-DE" sz="1200" b="1" dirty="0" err="1"/>
              <a:t>self,inChar,dataStream</a:t>
            </a:r>
            <a:r>
              <a:rPr lang="de-DE" sz="1200" b="1" dirty="0"/>
              <a:t>)</a:t>
            </a:r>
          </a:p>
          <a:p>
            <a:r>
              <a:rPr lang="de-DE" sz="1200" dirty="0"/>
              <a:t>&gt;&gt; </a:t>
            </a:r>
            <a:r>
              <a:rPr lang="de-DE" sz="1200" b="1" dirty="0" err="1"/>
              <a:t>inChar</a:t>
            </a:r>
            <a:r>
              <a:rPr lang="de-DE" sz="1200" dirty="0"/>
              <a:t> wird zerlegt in die verschiedene </a:t>
            </a:r>
            <a:r>
              <a:rPr lang="de-DE" sz="1200" b="1" dirty="0" err="1"/>
              <a:t>dataStream</a:t>
            </a:r>
            <a:r>
              <a:rPr lang="de-DE" sz="1200" b="1" dirty="0"/>
              <a:t>() </a:t>
            </a:r>
            <a:r>
              <a:rPr lang="de-DE" sz="1200" dirty="0"/>
              <a:t>&gt;&gt;</a:t>
            </a:r>
            <a:r>
              <a:rPr lang="de-DE" sz="1200" b="1" dirty="0"/>
              <a:t> </a:t>
            </a:r>
            <a:r>
              <a:rPr lang="de-DE" sz="1200" b="1" dirty="0" err="1"/>
              <a:t>adc</a:t>
            </a:r>
            <a:r>
              <a:rPr lang="de-DE" sz="1200" b="1" dirty="0"/>
              <a:t> </a:t>
            </a:r>
            <a:r>
              <a:rPr lang="de-DE" sz="1200" dirty="0"/>
              <a:t>und</a:t>
            </a:r>
            <a:r>
              <a:rPr lang="de-DE" sz="1200" b="1" dirty="0"/>
              <a:t> </a:t>
            </a:r>
            <a:r>
              <a:rPr lang="de-DE" sz="1200" b="1" dirty="0" err="1"/>
              <a:t>sample_t</a:t>
            </a:r>
            <a:endParaRPr lang="de-DE" sz="1200" b="1" dirty="0"/>
          </a:p>
          <a:p>
            <a:r>
              <a:rPr lang="de-DE" sz="1200" dirty="0"/>
              <a:t>&gt;&gt;  </a:t>
            </a:r>
            <a:r>
              <a:rPr lang="de-DE" sz="1200" b="1" dirty="0" err="1"/>
              <a:t>dataStream</a:t>
            </a:r>
            <a:r>
              <a:rPr lang="de-DE" sz="1200" b="1" dirty="0"/>
              <a:t>(</a:t>
            </a:r>
            <a:r>
              <a:rPr lang="de-DE" sz="1200" b="1" dirty="0" err="1"/>
              <a:t>j</a:t>
            </a:r>
            <a:r>
              <a:rPr lang="de-DE" sz="1200" b="1" dirty="0"/>
              <a:t>).</a:t>
            </a:r>
            <a:r>
              <a:rPr lang="de-DE" sz="1200" b="1" dirty="0" err="1"/>
              <a:t>addSample</a:t>
            </a:r>
            <a:r>
              <a:rPr lang="de-DE" sz="1200" b="1" dirty="0"/>
              <a:t>(</a:t>
            </a:r>
            <a:r>
              <a:rPr lang="de-DE" sz="1200" b="1" dirty="0" err="1"/>
              <a:t>adc</a:t>
            </a:r>
            <a:r>
              <a:rPr lang="de-DE" sz="1200" b="1" dirty="0"/>
              <a:t>, </a:t>
            </a:r>
            <a:r>
              <a:rPr lang="de-DE" sz="1200" b="1" dirty="0" err="1"/>
              <a:t>sample_t</a:t>
            </a:r>
            <a:r>
              <a:rPr lang="de-DE" sz="1200" b="1" dirty="0"/>
              <a:t>); </a:t>
            </a:r>
          </a:p>
          <a:p>
            <a:endParaRPr lang="de-DE" sz="1200" dirty="0"/>
          </a:p>
          <a:p>
            <a:endParaRPr lang="de-DE" sz="1200" dirty="0"/>
          </a:p>
        </p:txBody>
      </p:sp>
      <p:sp>
        <p:nvSpPr>
          <p:cNvPr id="7" name="Rechteck: abgerundete Ecken 8">
            <a:extLst>
              <a:ext uri="{FF2B5EF4-FFF2-40B4-BE49-F238E27FC236}">
                <a16:creationId xmlns:a16="http://schemas.microsoft.com/office/drawing/2014/main" id="{C6C94292-6565-9EBD-1A6E-3E0C52DBB3E8}"/>
              </a:ext>
            </a:extLst>
          </p:cNvPr>
          <p:cNvSpPr/>
          <p:nvPr/>
        </p:nvSpPr>
        <p:spPr>
          <a:xfrm>
            <a:off x="3411525" y="3569335"/>
            <a:ext cx="4008600" cy="435240"/>
          </a:xfrm>
          <a:prstGeom prst="roundRect">
            <a:avLst>
              <a:gd name="adj" fmla="val 16667"/>
            </a:avLst>
          </a:prstGeom>
          <a:solidFill>
            <a:srgbClr val="4472C4"/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horzOverflow="overflow" lIns="90000" tIns="45000" rIns="90000" bIns="45000" numCol="1" spcCol="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de-DE" sz="1800" b="0" strike="noStrike" spc="-1" dirty="0" err="1">
                <a:solidFill>
                  <a:schemeClr val="lt1"/>
                </a:solidFill>
                <a:latin typeface="Calibri"/>
              </a:rPr>
              <a:t>dataStreamClass.m</a:t>
            </a:r>
            <a:endParaRPr lang="en-US" sz="1800" b="0" strike="noStrike" spc="-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345285D5-D806-A1AF-F63E-91ED345899F1}"/>
              </a:ext>
            </a:extLst>
          </p:cNvPr>
          <p:cNvSpPr txBox="1"/>
          <p:nvPr/>
        </p:nvSpPr>
        <p:spPr>
          <a:xfrm>
            <a:off x="3411525" y="4181579"/>
            <a:ext cx="5974810" cy="170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200" b="1" dirty="0" err="1"/>
              <a:t>function</a:t>
            </a:r>
            <a:r>
              <a:rPr lang="de-DE" sz="1200" b="1" dirty="0"/>
              <a:t> </a:t>
            </a:r>
            <a:r>
              <a:rPr lang="de-DE" sz="1200" b="1" dirty="0" err="1"/>
              <a:t>addSample</a:t>
            </a:r>
            <a:r>
              <a:rPr lang="de-DE" sz="1200" b="1" dirty="0"/>
              <a:t>(</a:t>
            </a:r>
            <a:r>
              <a:rPr lang="de-DE" sz="1200" b="1" dirty="0" err="1"/>
              <a:t>self,sample,sample_t</a:t>
            </a:r>
            <a:r>
              <a:rPr lang="de-DE" sz="1200" b="1" dirty="0"/>
              <a:t>)</a:t>
            </a:r>
          </a:p>
          <a:p>
            <a:r>
              <a:rPr lang="de-DE" sz="1200" dirty="0"/>
              <a:t>&gt;&gt; implementiert und verwaltet den </a:t>
            </a:r>
            <a:r>
              <a:rPr lang="de-DE" sz="1200" dirty="0" err="1"/>
              <a:t>Ringbuffers</a:t>
            </a:r>
            <a:r>
              <a:rPr lang="de-DE" sz="1200" dirty="0"/>
              <a:t> &gt;&gt; </a:t>
            </a:r>
            <a:r>
              <a:rPr lang="de-DE" sz="1200" b="1" dirty="0" err="1"/>
              <a:t>dataStream.array</a:t>
            </a:r>
            <a:r>
              <a:rPr lang="de-DE" sz="1200" b="1" dirty="0"/>
              <a:t>() </a:t>
            </a:r>
            <a:r>
              <a:rPr lang="de-DE" sz="1200" dirty="0"/>
              <a:t>und</a:t>
            </a:r>
            <a:r>
              <a:rPr lang="de-DE" sz="1200" b="1" dirty="0"/>
              <a:t> </a:t>
            </a:r>
            <a:r>
              <a:rPr lang="de-DE" sz="1200" b="1" dirty="0" err="1"/>
              <a:t>dataStream.t</a:t>
            </a:r>
            <a:r>
              <a:rPr lang="de-DE" sz="1200" b="1" dirty="0"/>
              <a:t>()</a:t>
            </a:r>
          </a:p>
          <a:p>
            <a:r>
              <a:rPr lang="de-DE" sz="1200" dirty="0"/>
              <a:t>&gt;&gt; </a:t>
            </a:r>
            <a:r>
              <a:rPr lang="de-DE" sz="1200" b="1" dirty="0"/>
              <a:t>filtert</a:t>
            </a:r>
            <a:r>
              <a:rPr lang="de-DE" sz="1200" dirty="0"/>
              <a:t> die eingehenden Daten</a:t>
            </a:r>
          </a:p>
          <a:p>
            <a:r>
              <a:rPr lang="de-DE" sz="1200" dirty="0"/>
              <a:t>&gt;&gt; </a:t>
            </a:r>
            <a:r>
              <a:rPr lang="de-DE" sz="1200" b="1" dirty="0"/>
              <a:t>führt eine mögliche Peak </a:t>
            </a:r>
            <a:r>
              <a:rPr lang="de-DE" sz="1200" b="1" dirty="0" err="1"/>
              <a:t>unf</a:t>
            </a:r>
            <a:r>
              <a:rPr lang="de-DE" sz="1200" b="1" dirty="0"/>
              <a:t> </a:t>
            </a:r>
            <a:r>
              <a:rPr lang="de-DE" sz="1200" b="1" dirty="0" err="1"/>
              <a:t>Slope</a:t>
            </a:r>
            <a:r>
              <a:rPr lang="de-DE" sz="1200" b="1" dirty="0"/>
              <a:t>-Detektion aus</a:t>
            </a:r>
            <a:endParaRPr lang="de-DE" sz="1200" dirty="0"/>
          </a:p>
          <a:p>
            <a:endParaRPr lang="de-DE" sz="900" dirty="0"/>
          </a:p>
          <a:p>
            <a:r>
              <a:rPr lang="de-DE" sz="1200" b="1" dirty="0" err="1"/>
              <a:t>function</a:t>
            </a:r>
            <a:r>
              <a:rPr lang="de-DE" sz="1200" b="1" dirty="0"/>
              <a:t> [</a:t>
            </a:r>
            <a:r>
              <a:rPr lang="de-DE" sz="1200" b="1" dirty="0" err="1"/>
              <a:t>ret_array</a:t>
            </a:r>
            <a:r>
              <a:rPr lang="de-DE" sz="1200" b="1" dirty="0"/>
              <a:t>, </a:t>
            </a:r>
            <a:r>
              <a:rPr lang="de-DE" sz="1200" b="1" dirty="0" err="1"/>
              <a:t>ret_time</a:t>
            </a:r>
            <a:r>
              <a:rPr lang="de-DE" sz="1200" b="1" dirty="0"/>
              <a:t>] = </a:t>
            </a:r>
            <a:r>
              <a:rPr lang="de-DE" sz="1200" b="1" dirty="0" err="1"/>
              <a:t>lastSamples</a:t>
            </a:r>
            <a:r>
              <a:rPr lang="de-DE" sz="1200" b="1" dirty="0"/>
              <a:t>(</a:t>
            </a:r>
            <a:r>
              <a:rPr lang="de-DE" sz="1200" b="1" dirty="0" err="1"/>
              <a:t>self,n</a:t>
            </a:r>
            <a:r>
              <a:rPr lang="de-DE" sz="1200" b="1" dirty="0"/>
              <a:t>)</a:t>
            </a:r>
          </a:p>
          <a:p>
            <a:r>
              <a:rPr lang="de-DE" sz="1200" dirty="0"/>
              <a:t>&gt;&gt; </a:t>
            </a:r>
            <a:r>
              <a:rPr lang="de-DE" sz="1200" b="1" dirty="0"/>
              <a:t>liefert </a:t>
            </a:r>
            <a:r>
              <a:rPr lang="de-DE" sz="1200" dirty="0"/>
              <a:t>aus dem </a:t>
            </a:r>
            <a:r>
              <a:rPr lang="de-DE" sz="1200" b="1" dirty="0" err="1"/>
              <a:t>Ringbuffer</a:t>
            </a:r>
            <a:r>
              <a:rPr lang="de-DE" sz="1200" b="1" dirty="0"/>
              <a:t> </a:t>
            </a:r>
            <a:r>
              <a:rPr lang="de-DE" sz="1200" dirty="0"/>
              <a:t>die letzten </a:t>
            </a:r>
            <a:r>
              <a:rPr lang="de-DE" sz="1200" dirty="0" err="1"/>
              <a:t>n</a:t>
            </a:r>
            <a:r>
              <a:rPr lang="de-DE" sz="1200" dirty="0"/>
              <a:t> Einträge zurück </a:t>
            </a:r>
            <a:br>
              <a:rPr lang="de-DE" sz="1200" dirty="0"/>
            </a:br>
            <a:r>
              <a:rPr lang="de-DE" sz="1200" dirty="0"/>
              <a:t>      (für die Ausgabe auf dem Bildschirm in der</a:t>
            </a:r>
            <a:r>
              <a:rPr lang="de-DE" sz="1200" b="1" dirty="0"/>
              <a:t> </a:t>
            </a:r>
            <a:r>
              <a:rPr lang="de-DE" sz="1200" b="1" dirty="0" err="1"/>
              <a:t>plotGraphClass</a:t>
            </a:r>
            <a:r>
              <a:rPr lang="de-DE" sz="1200" b="1" dirty="0"/>
              <a:t>)</a:t>
            </a:r>
            <a:endParaRPr lang="de-DE" sz="1200" dirty="0"/>
          </a:p>
          <a:p>
            <a:endParaRPr lang="de-DE" sz="1200" dirty="0"/>
          </a:p>
        </p:txBody>
      </p:sp>
      <p:sp>
        <p:nvSpPr>
          <p:cNvPr id="9" name="Rechteck: abgerundete Ecken 13">
            <a:extLst>
              <a:ext uri="{FF2B5EF4-FFF2-40B4-BE49-F238E27FC236}">
                <a16:creationId xmlns:a16="http://schemas.microsoft.com/office/drawing/2014/main" id="{CC0324DC-E5E8-0C4B-231F-464A3846C665}"/>
              </a:ext>
            </a:extLst>
          </p:cNvPr>
          <p:cNvSpPr/>
          <p:nvPr/>
        </p:nvSpPr>
        <p:spPr>
          <a:xfrm>
            <a:off x="3411525" y="5922037"/>
            <a:ext cx="4008600" cy="395280"/>
          </a:xfrm>
          <a:prstGeom prst="roundRect">
            <a:avLst>
              <a:gd name="adj" fmla="val 16667"/>
            </a:avLst>
          </a:prstGeom>
          <a:solidFill>
            <a:srgbClr val="4472C4"/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horzOverflow="overflow" lIns="90000" tIns="45000" rIns="90000" bIns="45000" numCol="1" spcCol="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de-DE" sz="1800" b="0" strike="noStrike" spc="-1" dirty="0" err="1">
                <a:solidFill>
                  <a:schemeClr val="lt1"/>
                </a:solidFill>
                <a:latin typeface="Calibri"/>
              </a:rPr>
              <a:t>plotGraphClass.m</a:t>
            </a:r>
            <a:endParaRPr lang="en-US" sz="1800" b="0" strike="noStrike" spc="-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7BD0FA70-68DF-CB18-B9DB-5ADA0CE0D313}"/>
              </a:ext>
            </a:extLst>
          </p:cNvPr>
          <p:cNvSpPr txBox="1"/>
          <p:nvPr/>
        </p:nvSpPr>
        <p:spPr>
          <a:xfrm>
            <a:off x="3411525" y="6555953"/>
            <a:ext cx="5012941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200" b="1" dirty="0" err="1"/>
              <a:t>function</a:t>
            </a:r>
            <a:r>
              <a:rPr lang="de-DE" sz="1200" b="1" dirty="0"/>
              <a:t> </a:t>
            </a:r>
            <a:r>
              <a:rPr lang="de-DE" sz="1200" b="1" dirty="0" err="1"/>
              <a:t>draw</a:t>
            </a:r>
            <a:r>
              <a:rPr lang="de-DE" sz="1200" b="1" dirty="0"/>
              <a:t>(</a:t>
            </a:r>
            <a:r>
              <a:rPr lang="de-DE" sz="1200" b="1" dirty="0" err="1"/>
              <a:t>self,dataStream</a:t>
            </a:r>
            <a:r>
              <a:rPr lang="de-DE" sz="1200" b="1" dirty="0"/>
              <a:t>)</a:t>
            </a:r>
          </a:p>
          <a:p>
            <a:r>
              <a:rPr lang="de-DE" sz="1200" dirty="0"/>
              <a:t>&gt;&gt; holt sich aus dem </a:t>
            </a:r>
            <a:r>
              <a:rPr lang="de-DE" sz="1200" dirty="0" err="1"/>
              <a:t>Ringbuffer</a:t>
            </a:r>
            <a:r>
              <a:rPr lang="de-DE" sz="1200" dirty="0"/>
              <a:t> die Werte zum Plotten</a:t>
            </a:r>
          </a:p>
          <a:p>
            <a:r>
              <a:rPr lang="de-DE" sz="1200" dirty="0"/>
              <a:t>[</a:t>
            </a:r>
            <a:r>
              <a:rPr lang="de-DE" sz="1200" b="1" dirty="0" err="1"/>
              <a:t>adc_plot</a:t>
            </a:r>
            <a:r>
              <a:rPr lang="de-DE" sz="1200" dirty="0"/>
              <a:t>, </a:t>
            </a:r>
            <a:r>
              <a:rPr lang="de-DE" sz="1200" b="1" dirty="0" err="1"/>
              <a:t>data_t</a:t>
            </a:r>
            <a:r>
              <a:rPr lang="de-DE" sz="1200" dirty="0"/>
              <a:t>] = </a:t>
            </a:r>
            <a:r>
              <a:rPr lang="de-DE" sz="1200" b="1" dirty="0" err="1"/>
              <a:t>dataStream</a:t>
            </a:r>
            <a:r>
              <a:rPr lang="de-DE" sz="1200" b="1" dirty="0"/>
              <a:t>(i).</a:t>
            </a:r>
            <a:r>
              <a:rPr lang="de-DE" sz="1200" b="1" dirty="0" err="1"/>
              <a:t>lastSamples</a:t>
            </a:r>
            <a:r>
              <a:rPr lang="de-DE" sz="1200" dirty="0"/>
              <a:t>(</a:t>
            </a:r>
            <a:r>
              <a:rPr lang="de-DE" sz="1200" dirty="0" err="1"/>
              <a:t>dataStream</a:t>
            </a:r>
            <a:r>
              <a:rPr lang="de-DE" sz="1200" dirty="0"/>
              <a:t>(i).</a:t>
            </a:r>
            <a:r>
              <a:rPr lang="de-DE" sz="1200" dirty="0" err="1"/>
              <a:t>plotwidth</a:t>
            </a:r>
            <a:r>
              <a:rPr lang="de-DE" sz="1200" dirty="0"/>
              <a:t>);</a:t>
            </a:r>
            <a:br>
              <a:rPr lang="de-DE" sz="1200" dirty="0"/>
            </a:br>
            <a:endParaRPr lang="de-DE" sz="1200" dirty="0"/>
          </a:p>
          <a:p>
            <a:r>
              <a:rPr lang="de-DE" sz="1200" dirty="0"/>
              <a:t>&gt;&gt; skaliert die x-Achse des </a:t>
            </a:r>
            <a:r>
              <a:rPr lang="de-DE" sz="1200" dirty="0" err="1"/>
              <a:t>Plotfensters</a:t>
            </a:r>
            <a:endParaRPr lang="de-DE" sz="1200" dirty="0"/>
          </a:p>
          <a:p>
            <a:r>
              <a:rPr lang="de-DE" sz="1200" b="1" dirty="0" err="1"/>
              <a:t>x_axis</a:t>
            </a:r>
            <a:r>
              <a:rPr lang="de-DE" sz="1200" dirty="0"/>
              <a:t> = [</a:t>
            </a:r>
            <a:r>
              <a:rPr lang="de-DE" sz="1200" b="1" dirty="0" err="1"/>
              <a:t>data_t</a:t>
            </a:r>
            <a:r>
              <a:rPr lang="de-DE" sz="1200" b="1" dirty="0"/>
              <a:t>(1)</a:t>
            </a:r>
            <a:r>
              <a:rPr lang="de-DE" sz="1200" dirty="0"/>
              <a:t> </a:t>
            </a:r>
            <a:r>
              <a:rPr lang="de-DE" sz="1200" b="1" dirty="0" err="1"/>
              <a:t>data_t</a:t>
            </a:r>
            <a:r>
              <a:rPr lang="de-DE" sz="1200" b="1" dirty="0"/>
              <a:t>(end)</a:t>
            </a:r>
            <a:r>
              <a:rPr lang="de-DE" sz="1200" dirty="0"/>
              <a:t>];</a:t>
            </a:r>
            <a:br>
              <a:rPr lang="de-DE" sz="1200" dirty="0"/>
            </a:br>
            <a:r>
              <a:rPr lang="de-DE" sz="1200" dirty="0" err="1"/>
              <a:t>set</a:t>
            </a:r>
            <a:r>
              <a:rPr lang="de-DE" sz="1200" dirty="0"/>
              <a:t>(</a:t>
            </a:r>
            <a:r>
              <a:rPr lang="de-DE" sz="1200" dirty="0" err="1"/>
              <a:t>self.subPl</a:t>
            </a:r>
            <a:r>
              <a:rPr lang="de-DE" sz="1200" dirty="0"/>
              <a:t>(</a:t>
            </a:r>
            <a:r>
              <a:rPr lang="de-DE" sz="1200" dirty="0" err="1"/>
              <a:t>j</a:t>
            </a:r>
            <a:r>
              <a:rPr lang="de-DE" sz="1200" dirty="0"/>
              <a:t>),"</a:t>
            </a:r>
            <a:r>
              <a:rPr lang="de-DE" sz="1200" dirty="0" err="1"/>
              <a:t>xlim</a:t>
            </a:r>
            <a:r>
              <a:rPr lang="de-DE" sz="1200" dirty="0"/>
              <a:t>",</a:t>
            </a:r>
            <a:r>
              <a:rPr lang="de-DE" sz="1200" b="1" dirty="0" err="1"/>
              <a:t>x_axis</a:t>
            </a:r>
            <a:r>
              <a:rPr lang="de-DE" sz="1200" dirty="0"/>
              <a:t>);</a:t>
            </a:r>
          </a:p>
          <a:p>
            <a:br>
              <a:rPr lang="de-DE" sz="1200" dirty="0"/>
            </a:br>
            <a:r>
              <a:rPr lang="de-DE" sz="1200" dirty="0"/>
              <a:t>&gt;&gt; und übergibt die Werte an den Line-Plot</a:t>
            </a:r>
          </a:p>
          <a:p>
            <a:r>
              <a:rPr lang="de-DE" sz="1200" dirty="0" err="1"/>
              <a:t>set</a:t>
            </a:r>
            <a:r>
              <a:rPr lang="de-DE" sz="1200" dirty="0"/>
              <a:t>(</a:t>
            </a:r>
            <a:r>
              <a:rPr lang="de-DE" sz="1200" dirty="0" err="1"/>
              <a:t>self.subLi</a:t>
            </a:r>
            <a:r>
              <a:rPr lang="de-DE" sz="1200" dirty="0"/>
              <a:t>(</a:t>
            </a:r>
            <a:r>
              <a:rPr lang="de-DE" sz="1200" dirty="0" err="1"/>
              <a:t>j</a:t>
            </a:r>
            <a:r>
              <a:rPr lang="de-DE" sz="1200" dirty="0"/>
              <a:t>),"</a:t>
            </a:r>
            <a:r>
              <a:rPr lang="de-DE" sz="1200" dirty="0" err="1"/>
              <a:t>xdata</a:t>
            </a:r>
            <a:r>
              <a:rPr lang="de-DE" sz="1200" dirty="0"/>
              <a:t>",</a:t>
            </a:r>
            <a:r>
              <a:rPr lang="de-DE" sz="1200" b="1" dirty="0"/>
              <a:t>data_t</a:t>
            </a:r>
            <a:r>
              <a:rPr lang="de-DE" sz="1200" dirty="0"/>
              <a:t>,"</a:t>
            </a:r>
            <a:r>
              <a:rPr lang="de-DE" sz="1200" dirty="0" err="1"/>
              <a:t>ydata</a:t>
            </a:r>
            <a:r>
              <a:rPr lang="de-DE" sz="1200" dirty="0"/>
              <a:t>",</a:t>
            </a:r>
            <a:r>
              <a:rPr lang="de-DE" sz="1200" b="1" dirty="0" err="1"/>
              <a:t>adc_plot</a:t>
            </a:r>
            <a:r>
              <a:rPr lang="de-DE" sz="1200" dirty="0"/>
              <a:t>);</a:t>
            </a:r>
          </a:p>
        </p:txBody>
      </p:sp>
      <p:sp>
        <p:nvSpPr>
          <p:cNvPr id="11" name="Geschweifte Klammer rechts 10">
            <a:extLst>
              <a:ext uri="{FF2B5EF4-FFF2-40B4-BE49-F238E27FC236}">
                <a16:creationId xmlns:a16="http://schemas.microsoft.com/office/drawing/2014/main" id="{41748DBD-AFAD-0F51-BACA-8E4E6D8C0FAA}"/>
              </a:ext>
            </a:extLst>
          </p:cNvPr>
          <p:cNvSpPr/>
          <p:nvPr/>
        </p:nvSpPr>
        <p:spPr>
          <a:xfrm>
            <a:off x="8694293" y="958793"/>
            <a:ext cx="1257300" cy="2650139"/>
          </a:xfrm>
          <a:prstGeom prst="rightBrac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Geschweifte Klammer rechts 11">
            <a:extLst>
              <a:ext uri="{FF2B5EF4-FFF2-40B4-BE49-F238E27FC236}">
                <a16:creationId xmlns:a16="http://schemas.microsoft.com/office/drawing/2014/main" id="{9D7AE0C5-674E-8140-F5F5-6E15A492D800}"/>
              </a:ext>
            </a:extLst>
          </p:cNvPr>
          <p:cNvSpPr/>
          <p:nvPr/>
        </p:nvSpPr>
        <p:spPr>
          <a:xfrm>
            <a:off x="8694293" y="3667178"/>
            <a:ext cx="1257300" cy="2254859"/>
          </a:xfrm>
          <a:prstGeom prst="rightBrac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Geschweifte Klammer rechts 12">
            <a:extLst>
              <a:ext uri="{FF2B5EF4-FFF2-40B4-BE49-F238E27FC236}">
                <a16:creationId xmlns:a16="http://schemas.microsoft.com/office/drawing/2014/main" id="{82A123D3-2053-D8A9-E813-27F08ACAF021}"/>
              </a:ext>
            </a:extLst>
          </p:cNvPr>
          <p:cNvSpPr/>
          <p:nvPr/>
        </p:nvSpPr>
        <p:spPr>
          <a:xfrm>
            <a:off x="8694293" y="5980283"/>
            <a:ext cx="1257300" cy="2514662"/>
          </a:xfrm>
          <a:prstGeom prst="rightBrac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5972D969-DB7D-B973-DF42-8733BA56504D}"/>
              </a:ext>
            </a:extLst>
          </p:cNvPr>
          <p:cNvSpPr txBox="1"/>
          <p:nvPr/>
        </p:nvSpPr>
        <p:spPr>
          <a:xfrm>
            <a:off x="10179165" y="2099196"/>
            <a:ext cx="16387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/>
              <a:t>Daten einlesen </a:t>
            </a:r>
          </a:p>
          <a:p>
            <a:pPr algn="ctr"/>
            <a:r>
              <a:rPr lang="de-DE" dirty="0"/>
              <a:t>und parsen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2CFDEF19-37BD-E048-726D-5BDCA0ED5155}"/>
              </a:ext>
            </a:extLst>
          </p:cNvPr>
          <p:cNvSpPr txBox="1"/>
          <p:nvPr/>
        </p:nvSpPr>
        <p:spPr>
          <a:xfrm>
            <a:off x="10179165" y="4609941"/>
            <a:ext cx="24766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/>
              <a:t>Daten filtern und </a:t>
            </a:r>
          </a:p>
          <a:p>
            <a:pPr algn="ctr"/>
            <a:r>
              <a:rPr lang="de-DE" dirty="0"/>
              <a:t>im Ringspeicher ablegen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C23421B9-468C-750C-61BD-B2AD42E3A78D}"/>
              </a:ext>
            </a:extLst>
          </p:cNvPr>
          <p:cNvSpPr txBox="1"/>
          <p:nvPr/>
        </p:nvSpPr>
        <p:spPr>
          <a:xfrm>
            <a:off x="10179165" y="7052948"/>
            <a:ext cx="14823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Daten plotten</a:t>
            </a:r>
          </a:p>
        </p:txBody>
      </p:sp>
      <p:cxnSp>
        <p:nvCxnSpPr>
          <p:cNvPr id="5" name="Gerade Verbindung mit Pfeil 4">
            <a:extLst>
              <a:ext uri="{FF2B5EF4-FFF2-40B4-BE49-F238E27FC236}">
                <a16:creationId xmlns:a16="http://schemas.microsoft.com/office/drawing/2014/main" id="{63E91F8C-6ED8-FC03-E83A-5DEC7D2ADC89}"/>
              </a:ext>
            </a:extLst>
          </p:cNvPr>
          <p:cNvCxnSpPr>
            <a:cxnSpLocks/>
          </p:cNvCxnSpPr>
          <p:nvPr/>
        </p:nvCxnSpPr>
        <p:spPr>
          <a:xfrm>
            <a:off x="2473887" y="1663908"/>
            <a:ext cx="937638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Gerade Verbindung mit Pfeil 16">
            <a:extLst>
              <a:ext uri="{FF2B5EF4-FFF2-40B4-BE49-F238E27FC236}">
                <a16:creationId xmlns:a16="http://schemas.microsoft.com/office/drawing/2014/main" id="{E7AEB604-5964-2703-54BB-CEFAA603E863}"/>
              </a:ext>
            </a:extLst>
          </p:cNvPr>
          <p:cNvCxnSpPr>
            <a:cxnSpLocks/>
          </p:cNvCxnSpPr>
          <p:nvPr/>
        </p:nvCxnSpPr>
        <p:spPr>
          <a:xfrm>
            <a:off x="2858134" y="2745527"/>
            <a:ext cx="545079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Gerade Verbindung mit Pfeil 19">
            <a:extLst>
              <a:ext uri="{FF2B5EF4-FFF2-40B4-BE49-F238E27FC236}">
                <a16:creationId xmlns:a16="http://schemas.microsoft.com/office/drawing/2014/main" id="{AEDC5DB1-AE71-8AB8-25D3-99E5D92D3C3B}"/>
              </a:ext>
            </a:extLst>
          </p:cNvPr>
          <p:cNvCxnSpPr>
            <a:cxnSpLocks/>
          </p:cNvCxnSpPr>
          <p:nvPr/>
        </p:nvCxnSpPr>
        <p:spPr>
          <a:xfrm>
            <a:off x="2638269" y="6730584"/>
            <a:ext cx="773256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Oval 42">
            <a:extLst>
              <a:ext uri="{FF2B5EF4-FFF2-40B4-BE49-F238E27FC236}">
                <a16:creationId xmlns:a16="http://schemas.microsoft.com/office/drawing/2014/main" id="{4D0F4CDA-C187-78D0-E7D7-C860BA02A786}"/>
              </a:ext>
            </a:extLst>
          </p:cNvPr>
          <p:cNvSpPr/>
          <p:nvPr/>
        </p:nvSpPr>
        <p:spPr>
          <a:xfrm rot="5585961">
            <a:off x="2220166" y="5910177"/>
            <a:ext cx="1837639" cy="446374"/>
          </a:xfrm>
          <a:custGeom>
            <a:avLst/>
            <a:gdLst>
              <a:gd name="connsiteX0" fmla="*/ 0 w 1499017"/>
              <a:gd name="connsiteY0" fmla="*/ 757004 h 1514007"/>
              <a:gd name="connsiteX1" fmla="*/ 749509 w 1499017"/>
              <a:gd name="connsiteY1" fmla="*/ 0 h 1514007"/>
              <a:gd name="connsiteX2" fmla="*/ 1499018 w 1499017"/>
              <a:gd name="connsiteY2" fmla="*/ 757004 h 1514007"/>
              <a:gd name="connsiteX3" fmla="*/ 749509 w 1499017"/>
              <a:gd name="connsiteY3" fmla="*/ 1514008 h 1514007"/>
              <a:gd name="connsiteX4" fmla="*/ 0 w 1499017"/>
              <a:gd name="connsiteY4" fmla="*/ 757004 h 1514007"/>
              <a:gd name="connsiteX0" fmla="*/ 0 w 1519852"/>
              <a:gd name="connsiteY0" fmla="*/ 94626 h 851630"/>
              <a:gd name="connsiteX1" fmla="*/ 1499018 w 1519852"/>
              <a:gd name="connsiteY1" fmla="*/ 94626 h 851630"/>
              <a:gd name="connsiteX2" fmla="*/ 749509 w 1519852"/>
              <a:gd name="connsiteY2" fmla="*/ 851630 h 851630"/>
              <a:gd name="connsiteX3" fmla="*/ 0 w 1519852"/>
              <a:gd name="connsiteY3" fmla="*/ 94626 h 851630"/>
              <a:gd name="connsiteX0" fmla="*/ 0 w 1519852"/>
              <a:gd name="connsiteY0" fmla="*/ 94626 h 851630"/>
              <a:gd name="connsiteX1" fmla="*/ 1499018 w 1519852"/>
              <a:gd name="connsiteY1" fmla="*/ 94626 h 851630"/>
              <a:gd name="connsiteX2" fmla="*/ 749509 w 1519852"/>
              <a:gd name="connsiteY2" fmla="*/ 851630 h 851630"/>
              <a:gd name="connsiteX3" fmla="*/ 91440 w 1519852"/>
              <a:gd name="connsiteY3" fmla="*/ 186066 h 851630"/>
              <a:gd name="connsiteX0" fmla="*/ 1422723 w 1443557"/>
              <a:gd name="connsiteY0" fmla="*/ 0 h 757004"/>
              <a:gd name="connsiteX1" fmla="*/ 673214 w 1443557"/>
              <a:gd name="connsiteY1" fmla="*/ 757004 h 757004"/>
              <a:gd name="connsiteX2" fmla="*/ 15145 w 1443557"/>
              <a:gd name="connsiteY2" fmla="*/ 91440 h 757004"/>
              <a:gd name="connsiteX0" fmla="*/ 1137983 w 1161390"/>
              <a:gd name="connsiteY0" fmla="*/ 0 h 1219452"/>
              <a:gd name="connsiteX1" fmla="*/ 668059 w 1161390"/>
              <a:gd name="connsiteY1" fmla="*/ 1207242 h 1219452"/>
              <a:gd name="connsiteX2" fmla="*/ 9990 w 1161390"/>
              <a:gd name="connsiteY2" fmla="*/ 541678 h 1219452"/>
              <a:gd name="connsiteX0" fmla="*/ 1144343 w 1160062"/>
              <a:gd name="connsiteY0" fmla="*/ 0 h 834867"/>
              <a:gd name="connsiteX1" fmla="*/ 426392 w 1160062"/>
              <a:gd name="connsiteY1" fmla="*/ 785321 h 834867"/>
              <a:gd name="connsiteX2" fmla="*/ 16350 w 1160062"/>
              <a:gd name="connsiteY2" fmla="*/ 541678 h 834867"/>
              <a:gd name="connsiteX0" fmla="*/ 1462110 w 1479005"/>
              <a:gd name="connsiteY0" fmla="*/ 0 h 785787"/>
              <a:gd name="connsiteX1" fmla="*/ 744159 w 1479005"/>
              <a:gd name="connsiteY1" fmla="*/ 785321 h 785787"/>
              <a:gd name="connsiteX2" fmla="*/ 9628 w 1479005"/>
              <a:gd name="connsiteY2" fmla="*/ 93873 h 785787"/>
              <a:gd name="connsiteX0" fmla="*/ 1462110 w 1479005"/>
              <a:gd name="connsiteY0" fmla="*/ 0 h 785787"/>
              <a:gd name="connsiteX1" fmla="*/ 744159 w 1479005"/>
              <a:gd name="connsiteY1" fmla="*/ 785321 h 785787"/>
              <a:gd name="connsiteX2" fmla="*/ 9628 w 1479005"/>
              <a:gd name="connsiteY2" fmla="*/ 93873 h 785787"/>
              <a:gd name="connsiteX0" fmla="*/ 1462110 w 1468440"/>
              <a:gd name="connsiteY0" fmla="*/ 0 h 785787"/>
              <a:gd name="connsiteX1" fmla="*/ 744159 w 1468440"/>
              <a:gd name="connsiteY1" fmla="*/ 785321 h 785787"/>
              <a:gd name="connsiteX2" fmla="*/ 9628 w 1468440"/>
              <a:gd name="connsiteY2" fmla="*/ 93873 h 785787"/>
              <a:gd name="connsiteX0" fmla="*/ 1452482 w 1458812"/>
              <a:gd name="connsiteY0" fmla="*/ 0 h 787421"/>
              <a:gd name="connsiteX1" fmla="*/ 734531 w 1458812"/>
              <a:gd name="connsiteY1" fmla="*/ 785321 h 787421"/>
              <a:gd name="connsiteX2" fmla="*/ 0 w 1458812"/>
              <a:gd name="connsiteY2" fmla="*/ 93873 h 7874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58812" h="787421">
                <a:moveTo>
                  <a:pt x="1452482" y="0"/>
                </a:moveTo>
                <a:cubicBezTo>
                  <a:pt x="1523631" y="519393"/>
                  <a:pt x="976611" y="769676"/>
                  <a:pt x="734531" y="785321"/>
                </a:cubicBezTo>
                <a:cubicBezTo>
                  <a:pt x="492451" y="800966"/>
                  <a:pt x="31168" y="744144"/>
                  <a:pt x="0" y="93873"/>
                </a:cubicBezTo>
              </a:path>
            </a:pathLst>
          </a:custGeom>
          <a:noFill/>
          <a:ln w="28575">
            <a:solidFill>
              <a:schemeClr val="accent1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4" name="Oval 42">
            <a:extLst>
              <a:ext uri="{FF2B5EF4-FFF2-40B4-BE49-F238E27FC236}">
                <a16:creationId xmlns:a16="http://schemas.microsoft.com/office/drawing/2014/main" id="{0DB85CD5-8D40-8F34-1BA0-38B084B8C0B9}"/>
              </a:ext>
            </a:extLst>
          </p:cNvPr>
          <p:cNvSpPr/>
          <p:nvPr/>
        </p:nvSpPr>
        <p:spPr>
          <a:xfrm rot="16014039" flipV="1">
            <a:off x="2591465" y="3541887"/>
            <a:ext cx="1315592" cy="411252"/>
          </a:xfrm>
          <a:custGeom>
            <a:avLst/>
            <a:gdLst>
              <a:gd name="connsiteX0" fmla="*/ 0 w 1499017"/>
              <a:gd name="connsiteY0" fmla="*/ 757004 h 1514007"/>
              <a:gd name="connsiteX1" fmla="*/ 749509 w 1499017"/>
              <a:gd name="connsiteY1" fmla="*/ 0 h 1514007"/>
              <a:gd name="connsiteX2" fmla="*/ 1499018 w 1499017"/>
              <a:gd name="connsiteY2" fmla="*/ 757004 h 1514007"/>
              <a:gd name="connsiteX3" fmla="*/ 749509 w 1499017"/>
              <a:gd name="connsiteY3" fmla="*/ 1514008 h 1514007"/>
              <a:gd name="connsiteX4" fmla="*/ 0 w 1499017"/>
              <a:gd name="connsiteY4" fmla="*/ 757004 h 1514007"/>
              <a:gd name="connsiteX0" fmla="*/ 0 w 1519852"/>
              <a:gd name="connsiteY0" fmla="*/ 94626 h 851630"/>
              <a:gd name="connsiteX1" fmla="*/ 1499018 w 1519852"/>
              <a:gd name="connsiteY1" fmla="*/ 94626 h 851630"/>
              <a:gd name="connsiteX2" fmla="*/ 749509 w 1519852"/>
              <a:gd name="connsiteY2" fmla="*/ 851630 h 851630"/>
              <a:gd name="connsiteX3" fmla="*/ 0 w 1519852"/>
              <a:gd name="connsiteY3" fmla="*/ 94626 h 851630"/>
              <a:gd name="connsiteX0" fmla="*/ 0 w 1519852"/>
              <a:gd name="connsiteY0" fmla="*/ 94626 h 851630"/>
              <a:gd name="connsiteX1" fmla="*/ 1499018 w 1519852"/>
              <a:gd name="connsiteY1" fmla="*/ 94626 h 851630"/>
              <a:gd name="connsiteX2" fmla="*/ 749509 w 1519852"/>
              <a:gd name="connsiteY2" fmla="*/ 851630 h 851630"/>
              <a:gd name="connsiteX3" fmla="*/ 91440 w 1519852"/>
              <a:gd name="connsiteY3" fmla="*/ 186066 h 851630"/>
              <a:gd name="connsiteX0" fmla="*/ 1422723 w 1443557"/>
              <a:gd name="connsiteY0" fmla="*/ 0 h 757004"/>
              <a:gd name="connsiteX1" fmla="*/ 673214 w 1443557"/>
              <a:gd name="connsiteY1" fmla="*/ 757004 h 757004"/>
              <a:gd name="connsiteX2" fmla="*/ 15145 w 1443557"/>
              <a:gd name="connsiteY2" fmla="*/ 91440 h 757004"/>
              <a:gd name="connsiteX0" fmla="*/ 1137983 w 1161390"/>
              <a:gd name="connsiteY0" fmla="*/ 0 h 1219452"/>
              <a:gd name="connsiteX1" fmla="*/ 668059 w 1161390"/>
              <a:gd name="connsiteY1" fmla="*/ 1207242 h 1219452"/>
              <a:gd name="connsiteX2" fmla="*/ 9990 w 1161390"/>
              <a:gd name="connsiteY2" fmla="*/ 541678 h 1219452"/>
              <a:gd name="connsiteX0" fmla="*/ 1144343 w 1160062"/>
              <a:gd name="connsiteY0" fmla="*/ 0 h 834867"/>
              <a:gd name="connsiteX1" fmla="*/ 426392 w 1160062"/>
              <a:gd name="connsiteY1" fmla="*/ 785321 h 834867"/>
              <a:gd name="connsiteX2" fmla="*/ 16350 w 1160062"/>
              <a:gd name="connsiteY2" fmla="*/ 541678 h 834867"/>
              <a:gd name="connsiteX0" fmla="*/ 1462110 w 1479005"/>
              <a:gd name="connsiteY0" fmla="*/ 0 h 785787"/>
              <a:gd name="connsiteX1" fmla="*/ 744159 w 1479005"/>
              <a:gd name="connsiteY1" fmla="*/ 785321 h 785787"/>
              <a:gd name="connsiteX2" fmla="*/ 9628 w 1479005"/>
              <a:gd name="connsiteY2" fmla="*/ 93873 h 785787"/>
              <a:gd name="connsiteX0" fmla="*/ 1462110 w 1479005"/>
              <a:gd name="connsiteY0" fmla="*/ 0 h 785787"/>
              <a:gd name="connsiteX1" fmla="*/ 744159 w 1479005"/>
              <a:gd name="connsiteY1" fmla="*/ 785321 h 785787"/>
              <a:gd name="connsiteX2" fmla="*/ 9628 w 1479005"/>
              <a:gd name="connsiteY2" fmla="*/ 93873 h 785787"/>
              <a:gd name="connsiteX0" fmla="*/ 1462110 w 1468440"/>
              <a:gd name="connsiteY0" fmla="*/ 0 h 785787"/>
              <a:gd name="connsiteX1" fmla="*/ 744159 w 1468440"/>
              <a:gd name="connsiteY1" fmla="*/ 785321 h 785787"/>
              <a:gd name="connsiteX2" fmla="*/ 9628 w 1468440"/>
              <a:gd name="connsiteY2" fmla="*/ 93873 h 785787"/>
              <a:gd name="connsiteX0" fmla="*/ 1452482 w 1458812"/>
              <a:gd name="connsiteY0" fmla="*/ 0 h 787421"/>
              <a:gd name="connsiteX1" fmla="*/ 734531 w 1458812"/>
              <a:gd name="connsiteY1" fmla="*/ 785321 h 787421"/>
              <a:gd name="connsiteX2" fmla="*/ 0 w 1458812"/>
              <a:gd name="connsiteY2" fmla="*/ 93873 h 7874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58812" h="787421">
                <a:moveTo>
                  <a:pt x="1452482" y="0"/>
                </a:moveTo>
                <a:cubicBezTo>
                  <a:pt x="1523631" y="519393"/>
                  <a:pt x="976611" y="769676"/>
                  <a:pt x="734531" y="785321"/>
                </a:cubicBezTo>
                <a:cubicBezTo>
                  <a:pt x="492451" y="800966"/>
                  <a:pt x="31168" y="744144"/>
                  <a:pt x="0" y="93873"/>
                </a:cubicBezTo>
              </a:path>
            </a:pathLst>
          </a:custGeom>
          <a:noFill/>
          <a:ln w="28575">
            <a:solidFill>
              <a:schemeClr val="accent1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47" name="Gewinkelte Verbindung 46">
            <a:extLst>
              <a:ext uri="{FF2B5EF4-FFF2-40B4-BE49-F238E27FC236}">
                <a16:creationId xmlns:a16="http://schemas.microsoft.com/office/drawing/2014/main" id="{C7CD9EBD-F8C0-3DAD-6E07-5C6D78550C41}"/>
              </a:ext>
            </a:extLst>
          </p:cNvPr>
          <p:cNvCxnSpPr>
            <a:cxnSpLocks/>
            <a:stCxn id="2" idx="3"/>
          </p:cNvCxnSpPr>
          <p:nvPr/>
        </p:nvCxnSpPr>
        <p:spPr>
          <a:xfrm>
            <a:off x="2354984" y="3869309"/>
            <a:ext cx="283285" cy="2861274"/>
          </a:xfrm>
          <a:prstGeom prst="bentConnector2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Gewinkelte Verbindung 50">
            <a:extLst>
              <a:ext uri="{FF2B5EF4-FFF2-40B4-BE49-F238E27FC236}">
                <a16:creationId xmlns:a16="http://schemas.microsoft.com/office/drawing/2014/main" id="{230D4508-0BF2-0887-ABA3-E5D556A18577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922345" y="2931884"/>
            <a:ext cx="1123782" cy="764421"/>
          </a:xfrm>
          <a:prstGeom prst="bentConnector3">
            <a:avLst>
              <a:gd name="adj1" fmla="val 645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Gewinkelte Verbindung 58">
            <a:extLst>
              <a:ext uri="{FF2B5EF4-FFF2-40B4-BE49-F238E27FC236}">
                <a16:creationId xmlns:a16="http://schemas.microsoft.com/office/drawing/2014/main" id="{C35F6E80-32FC-D6BC-6400-8845F5054462}"/>
              </a:ext>
            </a:extLst>
          </p:cNvPr>
          <p:cNvCxnSpPr>
            <a:cxnSpLocks/>
          </p:cNvCxnSpPr>
          <p:nvPr/>
        </p:nvCxnSpPr>
        <p:spPr>
          <a:xfrm flipV="1">
            <a:off x="2165799" y="1663908"/>
            <a:ext cx="308088" cy="2205401"/>
          </a:xfrm>
          <a:prstGeom prst="bentConnector2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hteck: abgerundete Ecken 3">
            <a:extLst>
              <a:ext uri="{FF2B5EF4-FFF2-40B4-BE49-F238E27FC236}">
                <a16:creationId xmlns:a16="http://schemas.microsoft.com/office/drawing/2014/main" id="{5D7948D8-E033-721F-8DDD-644DEA7FC798}"/>
              </a:ext>
            </a:extLst>
          </p:cNvPr>
          <p:cNvSpPr/>
          <p:nvPr/>
        </p:nvSpPr>
        <p:spPr>
          <a:xfrm>
            <a:off x="34666" y="3443107"/>
            <a:ext cx="2320318" cy="852403"/>
          </a:xfrm>
          <a:prstGeom prst="roundRect">
            <a:avLst>
              <a:gd name="adj" fmla="val 16667"/>
            </a:avLst>
          </a:prstGeom>
          <a:solidFill>
            <a:srgbClr val="ED7D31"/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/>
        </p:style>
        <p:txBody>
          <a:bodyPr horzOverflow="overflow" lIns="90000" tIns="45000" rIns="90000" bIns="45000" numCol="1" spcCol="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de-DE" sz="1800" b="0" strike="noStrike" spc="-1" dirty="0" err="1">
                <a:solidFill>
                  <a:schemeClr val="lt1"/>
                </a:solidFill>
                <a:latin typeface="Calibri"/>
              </a:rPr>
              <a:t>XPortData</a:t>
            </a:r>
            <a:br>
              <a:rPr sz="1800" dirty="0"/>
            </a:br>
            <a:r>
              <a:rPr lang="de-DE" sz="1800" b="0" strike="noStrike" spc="-1" dirty="0" err="1">
                <a:solidFill>
                  <a:schemeClr val="lt1"/>
                </a:solidFill>
                <a:latin typeface="Calibri"/>
              </a:rPr>
              <a:t>Streamer.m</a:t>
            </a:r>
            <a:endParaRPr lang="en-US" sz="1800" b="0" strike="noStrike" spc="-1" dirty="0">
              <a:solidFill>
                <a:srgbClr val="FFFFFF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967081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867</Words>
  <Application>Microsoft Macintosh PowerPoint</Application>
  <PresentationFormat>A3-Papier (297 x 420 mm)</PresentationFormat>
  <Paragraphs>103</Paragraphs>
  <Slides>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10</vt:i4>
      </vt:variant>
      <vt:variant>
        <vt:lpstr>Folientitel</vt:lpstr>
      </vt:variant>
      <vt:variant>
        <vt:i4>2</vt:i4>
      </vt:variant>
    </vt:vector>
  </HeadingPairs>
  <TitlesOfParts>
    <vt:vector size="17" baseType="lpstr">
      <vt:lpstr>Arial</vt:lpstr>
      <vt:lpstr>Calibri</vt:lpstr>
      <vt:lpstr>Calibri Light</vt:lpstr>
      <vt:lpstr>Symbol</vt:lpstr>
      <vt:lpstr>Wingdings</vt:lpstr>
      <vt:lpstr>Office</vt:lpstr>
      <vt:lpstr>Office</vt:lpstr>
      <vt:lpstr>Office</vt:lpstr>
      <vt:lpstr>Office</vt:lpstr>
      <vt:lpstr>Office</vt:lpstr>
      <vt:lpstr>Office</vt:lpstr>
      <vt:lpstr>Office</vt:lpstr>
      <vt:lpstr>Office</vt:lpstr>
      <vt:lpstr>Office</vt:lpstr>
      <vt:lpstr>Office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subject/>
  <dc:creator>Jens Bongartz</dc:creator>
  <dc:description/>
  <cp:lastModifiedBy>Jens Bongartz</cp:lastModifiedBy>
  <cp:revision>42</cp:revision>
  <dcterms:created xsi:type="dcterms:W3CDTF">2024-10-11T09:42:08Z</dcterms:created>
  <dcterms:modified xsi:type="dcterms:W3CDTF">2024-11-22T10:47:05Z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A3-Papier (297 x 420 mm)</vt:lpwstr>
  </property>
  <property fmtid="{D5CDD505-2E9C-101B-9397-08002B2CF9AE}" pid="3" name="Slides">
    <vt:i4>1</vt:i4>
  </property>
</Properties>
</file>